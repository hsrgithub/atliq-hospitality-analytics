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3" r:id="rId3"/>
    <p:sldId id="264" r:id="rId4"/>
    <p:sldId id="257"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989"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1295C"/>
                </a:solidFill>
                <a:latin typeface="Arial"/>
              </a:defRPr>
            </a:pPr>
            <a:r>
              <a:rPr lang="en-US" sz="1200" b="0" i="0" u="none" strike="noStrike">
                <a:solidFill>
                  <a:srgbClr val="21295C"/>
                </a:solidFill>
                <a:latin typeface="Arial"/>
              </a:rPr>
              <a:t>ADR vs RevPAR (in thousands)</a:t>
            </a:r>
          </a:p>
        </c:rich>
      </c:tx>
      <c:overlay val="0"/>
    </c:title>
    <c:autoTitleDeleted val="0"/>
    <c:plotArea>
      <c:layout/>
      <c:lineChart>
        <c:grouping val="standard"/>
        <c:varyColors val="0"/>
        <c:ser>
          <c:idx val="0"/>
          <c:order val="0"/>
          <c:tx>
            <c:strRef>
              <c:f>Sheet1!$B$1</c:f>
              <c:strCache>
                <c:ptCount val="1"/>
                <c:pt idx="0">
                  <c:v>ADR (K)</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Sheet1!$A$2:$A$14</c:f>
              <c:strCache>
                <c:ptCount val="13"/>
                <c:pt idx="0">
                  <c:v>W19</c:v>
                </c:pt>
                <c:pt idx="1">
                  <c:v>W20</c:v>
                </c:pt>
                <c:pt idx="2">
                  <c:v>W21</c:v>
                </c:pt>
                <c:pt idx="3">
                  <c:v>W22</c:v>
                </c:pt>
                <c:pt idx="4">
                  <c:v>W23</c:v>
                </c:pt>
                <c:pt idx="5">
                  <c:v>W24</c:v>
                </c:pt>
                <c:pt idx="6">
                  <c:v>W25</c:v>
                </c:pt>
                <c:pt idx="7">
                  <c:v>W26</c:v>
                </c:pt>
                <c:pt idx="8">
                  <c:v>W27</c:v>
                </c:pt>
                <c:pt idx="9">
                  <c:v>W28</c:v>
                </c:pt>
                <c:pt idx="10">
                  <c:v>W29</c:v>
                </c:pt>
                <c:pt idx="11">
                  <c:v>W30</c:v>
                </c:pt>
                <c:pt idx="12">
                  <c:v>W31</c:v>
                </c:pt>
              </c:strCache>
            </c:strRef>
          </c:cat>
          <c:val>
            <c:numRef>
              <c:f>Sheet1!$B$2:$B$14</c:f>
              <c:numCache>
                <c:formatCode>General</c:formatCode>
                <c:ptCount val="13"/>
                <c:pt idx="0">
                  <c:v>12.7</c:v>
                </c:pt>
                <c:pt idx="1">
                  <c:v>12.7</c:v>
                </c:pt>
                <c:pt idx="2">
                  <c:v>12.7</c:v>
                </c:pt>
                <c:pt idx="3">
                  <c:v>12.8</c:v>
                </c:pt>
                <c:pt idx="4">
                  <c:v>12.7</c:v>
                </c:pt>
                <c:pt idx="5">
                  <c:v>12.8</c:v>
                </c:pt>
                <c:pt idx="6">
                  <c:v>12.8</c:v>
                </c:pt>
                <c:pt idx="7">
                  <c:v>12.7</c:v>
                </c:pt>
                <c:pt idx="8">
                  <c:v>12.8</c:v>
                </c:pt>
                <c:pt idx="9">
                  <c:v>12.8</c:v>
                </c:pt>
                <c:pt idx="10">
                  <c:v>12.8</c:v>
                </c:pt>
                <c:pt idx="11">
                  <c:v>12.7</c:v>
                </c:pt>
                <c:pt idx="12">
                  <c:v>12.7</c:v>
                </c:pt>
              </c:numCache>
            </c:numRef>
          </c:val>
          <c:smooth val="1"/>
          <c:extLst>
            <c:ext xmlns:c16="http://schemas.microsoft.com/office/drawing/2014/chart" uri="{C3380CC4-5D6E-409C-BE32-E72D297353CC}">
              <c16:uniqueId val="{00000000-EA47-49DC-B4BB-56A3F87AB3ED}"/>
            </c:ext>
          </c:extLst>
        </c:ser>
        <c:ser>
          <c:idx val="1"/>
          <c:order val="1"/>
          <c:tx>
            <c:strRef>
              <c:f>Sheet1!$C$1</c:f>
              <c:strCache>
                <c:ptCount val="1"/>
                <c:pt idx="0">
                  <c:v>RevPAR (K)</c:v>
                </c:pt>
              </c:strCache>
            </c:strRef>
          </c:tx>
          <c:spPr>
            <a:ln w="31750" cap="flat">
              <a:solidFill>
                <a:srgbClr val="5B8DEF"/>
              </a:solidFill>
              <a:prstDash val="solid"/>
              <a:round/>
            </a:ln>
            <a:effectLst/>
          </c:spPr>
          <c:marker>
            <c:symbol val="circle"/>
            <c:size val="6"/>
            <c:spPr>
              <a:solidFill>
                <a:srgbClr val="5B8DEF"/>
              </a:solidFill>
              <a:ln w="9525" cap="flat">
                <a:solidFill>
                  <a:srgbClr val="5B8DEF"/>
                </a:solidFill>
                <a:prstDash val="solid"/>
                <a:round/>
              </a:ln>
              <a:effectLst/>
            </c:spPr>
          </c:marker>
          <c:cat>
            <c:strRef>
              <c:f>Sheet1!$A$2:$A$14</c:f>
              <c:strCache>
                <c:ptCount val="13"/>
                <c:pt idx="0">
                  <c:v>W19</c:v>
                </c:pt>
                <c:pt idx="1">
                  <c:v>W20</c:v>
                </c:pt>
                <c:pt idx="2">
                  <c:v>W21</c:v>
                </c:pt>
                <c:pt idx="3">
                  <c:v>W22</c:v>
                </c:pt>
                <c:pt idx="4">
                  <c:v>W23</c:v>
                </c:pt>
                <c:pt idx="5">
                  <c:v>W24</c:v>
                </c:pt>
                <c:pt idx="6">
                  <c:v>W25</c:v>
                </c:pt>
                <c:pt idx="7">
                  <c:v>W26</c:v>
                </c:pt>
                <c:pt idx="8">
                  <c:v>W27</c:v>
                </c:pt>
                <c:pt idx="9">
                  <c:v>W28</c:v>
                </c:pt>
                <c:pt idx="10">
                  <c:v>W29</c:v>
                </c:pt>
                <c:pt idx="11">
                  <c:v>W30</c:v>
                </c:pt>
                <c:pt idx="12">
                  <c:v>W31</c:v>
                </c:pt>
              </c:strCache>
            </c:strRef>
          </c:cat>
          <c:val>
            <c:numRef>
              <c:f>Sheet1!$C$2:$C$14</c:f>
              <c:numCache>
                <c:formatCode>General</c:formatCode>
                <c:ptCount val="13"/>
                <c:pt idx="0">
                  <c:v>7.97</c:v>
                </c:pt>
                <c:pt idx="1">
                  <c:v>7.97</c:v>
                </c:pt>
                <c:pt idx="2">
                  <c:v>6.55</c:v>
                </c:pt>
                <c:pt idx="3">
                  <c:v>7.85</c:v>
                </c:pt>
                <c:pt idx="4">
                  <c:v>6.55</c:v>
                </c:pt>
                <c:pt idx="5">
                  <c:v>7.97</c:v>
                </c:pt>
                <c:pt idx="6">
                  <c:v>7.85</c:v>
                </c:pt>
                <c:pt idx="7">
                  <c:v>6.45</c:v>
                </c:pt>
                <c:pt idx="8">
                  <c:v>7.97</c:v>
                </c:pt>
                <c:pt idx="9">
                  <c:v>7.95</c:v>
                </c:pt>
                <c:pt idx="10">
                  <c:v>7.97</c:v>
                </c:pt>
                <c:pt idx="11">
                  <c:v>6.55</c:v>
                </c:pt>
                <c:pt idx="12">
                  <c:v>6.55</c:v>
                </c:pt>
              </c:numCache>
            </c:numRef>
          </c:val>
          <c:smooth val="1"/>
          <c:extLst>
            <c:ext xmlns:c16="http://schemas.microsoft.com/office/drawing/2014/chart" uri="{C3380CC4-5D6E-409C-BE32-E72D297353CC}">
              <c16:uniqueId val="{00000001-EA47-49DC-B4BB-56A3F87AB3E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legend>
    <c:plotVisOnly val="1"/>
    <c:dispBlanksAs val="span"/>
    <c:showDLblsOverMax val="1"/>
  </c:chart>
  <c:spPr>
    <a:solidFill>
      <a:srgbClr val="F4F8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1295C"/>
                </a:solidFill>
                <a:latin typeface="Arial"/>
              </a:defRPr>
            </a:pPr>
            <a:r>
              <a:rPr lang="en-US" sz="1200" b="0" i="0" u="none" strike="noStrike">
                <a:solidFill>
                  <a:srgbClr val="21295C"/>
                </a:solidFill>
                <a:latin typeface="Arial"/>
              </a:rPr>
              <a:t>Occupancy % follows the same dips &amp; peaks</a:t>
            </a:r>
          </a:p>
        </c:rich>
      </c:tx>
      <c:overlay val="0"/>
    </c:title>
    <c:autoTitleDeleted val="0"/>
    <c:plotArea>
      <c:layout/>
      <c:lineChart>
        <c:grouping val="standard"/>
        <c:varyColors val="0"/>
        <c:ser>
          <c:idx val="0"/>
          <c:order val="0"/>
          <c:tx>
            <c:strRef>
              <c:f>Sheet1!$B$1</c:f>
              <c:strCache>
                <c:ptCount val="1"/>
                <c:pt idx="0">
                  <c:v>Occupancy %</c:v>
                </c:pt>
              </c:strCache>
            </c:strRef>
          </c:tx>
          <c:spPr>
            <a:ln w="31750" cap="flat">
              <a:solidFill>
                <a:srgbClr val="DE6A73"/>
              </a:solidFill>
              <a:prstDash val="solid"/>
              <a:round/>
            </a:ln>
            <a:effectLst/>
          </c:spPr>
          <c:marker>
            <c:symbol val="circle"/>
            <c:size val="6"/>
            <c:spPr>
              <a:solidFill>
                <a:srgbClr val="DE6A73"/>
              </a:solidFill>
              <a:ln w="9525" cap="flat">
                <a:solidFill>
                  <a:srgbClr val="DE6A73"/>
                </a:solidFill>
                <a:prstDash val="solid"/>
                <a:round/>
              </a:ln>
              <a:effectLst/>
            </c:spPr>
          </c:marker>
          <c:cat>
            <c:strRef>
              <c:f>Sheet1!$A$2:$A$14</c:f>
              <c:strCache>
                <c:ptCount val="13"/>
                <c:pt idx="0">
                  <c:v>W19</c:v>
                </c:pt>
                <c:pt idx="1">
                  <c:v>W20</c:v>
                </c:pt>
                <c:pt idx="2">
                  <c:v>W21</c:v>
                </c:pt>
                <c:pt idx="3">
                  <c:v>W22</c:v>
                </c:pt>
                <c:pt idx="4">
                  <c:v>W23</c:v>
                </c:pt>
                <c:pt idx="5">
                  <c:v>W24</c:v>
                </c:pt>
                <c:pt idx="6">
                  <c:v>W25</c:v>
                </c:pt>
                <c:pt idx="7">
                  <c:v>W26</c:v>
                </c:pt>
                <c:pt idx="8">
                  <c:v>W27</c:v>
                </c:pt>
                <c:pt idx="9">
                  <c:v>W28</c:v>
                </c:pt>
                <c:pt idx="10">
                  <c:v>W29</c:v>
                </c:pt>
                <c:pt idx="11">
                  <c:v>W30</c:v>
                </c:pt>
                <c:pt idx="12">
                  <c:v>W31</c:v>
                </c:pt>
              </c:strCache>
            </c:strRef>
          </c:cat>
          <c:val>
            <c:numRef>
              <c:f>Sheet1!$B$2:$B$14</c:f>
              <c:numCache>
                <c:formatCode>General</c:formatCode>
                <c:ptCount val="13"/>
                <c:pt idx="0">
                  <c:v>62.6</c:v>
                </c:pt>
                <c:pt idx="1">
                  <c:v>62</c:v>
                </c:pt>
                <c:pt idx="2">
                  <c:v>51</c:v>
                </c:pt>
                <c:pt idx="3">
                  <c:v>62.5</c:v>
                </c:pt>
                <c:pt idx="4">
                  <c:v>51</c:v>
                </c:pt>
                <c:pt idx="5">
                  <c:v>62.5</c:v>
                </c:pt>
                <c:pt idx="6">
                  <c:v>62</c:v>
                </c:pt>
                <c:pt idx="7">
                  <c:v>51</c:v>
                </c:pt>
                <c:pt idx="8">
                  <c:v>62.5</c:v>
                </c:pt>
                <c:pt idx="9">
                  <c:v>62</c:v>
                </c:pt>
                <c:pt idx="10">
                  <c:v>62.5</c:v>
                </c:pt>
                <c:pt idx="11">
                  <c:v>51</c:v>
                </c:pt>
                <c:pt idx="12">
                  <c:v>51</c:v>
                </c:pt>
              </c:numCache>
            </c:numRef>
          </c:val>
          <c:smooth val="1"/>
          <c:extLst>
            <c:ext xmlns:c16="http://schemas.microsoft.com/office/drawing/2014/chart" uri="{C3380CC4-5D6E-409C-BE32-E72D297353CC}">
              <c16:uniqueId val="{00000000-79A3-4390-966C-51270D89027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8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1295C"/>
                </a:solidFill>
                <a:latin typeface="Arial"/>
              </a:defRPr>
            </a:pPr>
            <a:r>
              <a:rPr lang="en-US" sz="1200" b="0" i="0" u="none" strike="noStrike">
                <a:solidFill>
                  <a:srgbClr val="21295C"/>
                </a:solidFill>
                <a:latin typeface="Arial"/>
              </a:rPr>
              <a:t>Realization % by Booking Platform</a:t>
            </a:r>
          </a:p>
        </c:rich>
      </c:tx>
      <c:overlay val="0"/>
    </c:title>
    <c:autoTitleDeleted val="0"/>
    <c:plotArea>
      <c:layout/>
      <c:barChart>
        <c:barDir val="col"/>
        <c:grouping val="clustered"/>
        <c:varyColors val="0"/>
        <c:ser>
          <c:idx val="0"/>
          <c:order val="0"/>
          <c:tx>
            <c:strRef>
              <c:f>Sheet1!$B$1</c:f>
              <c:strCache>
                <c:ptCount val="1"/>
                <c:pt idx="0">
                  <c:v>Realization %</c:v>
                </c:pt>
              </c:strCache>
            </c:strRef>
          </c:tx>
          <c:spPr>
            <a:solidFill>
              <a:srgbClr val="DE6A73"/>
            </a:solidFill>
            <a:effectLst/>
          </c:spPr>
          <c:invertIfNegative val="0"/>
          <c:dLbls>
            <c:numFmt formatCode="0.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Logtrip</c:v>
                </c:pt>
                <c:pt idx="1">
                  <c:v>Journey</c:v>
                </c:pt>
                <c:pt idx="2">
                  <c:v>Direct Online</c:v>
                </c:pt>
                <c:pt idx="3">
                  <c:v>Direct Offline</c:v>
                </c:pt>
                <c:pt idx="4">
                  <c:v>Others</c:v>
                </c:pt>
                <c:pt idx="5">
                  <c:v>MakeYourTrip</c:v>
                </c:pt>
                <c:pt idx="6">
                  <c:v>Tripster</c:v>
                </c:pt>
              </c:strCache>
            </c:strRef>
          </c:cat>
          <c:val>
            <c:numRef>
              <c:f>Sheet1!$B$2:$B$8</c:f>
              <c:numCache>
                <c:formatCode>General</c:formatCode>
                <c:ptCount val="7"/>
                <c:pt idx="0">
                  <c:v>70.599999999999994</c:v>
                </c:pt>
                <c:pt idx="1">
                  <c:v>70.5</c:v>
                </c:pt>
                <c:pt idx="2">
                  <c:v>70.3</c:v>
                </c:pt>
                <c:pt idx="3">
                  <c:v>70.2</c:v>
                </c:pt>
                <c:pt idx="4">
                  <c:v>70.099999999999994</c:v>
                </c:pt>
                <c:pt idx="5">
                  <c:v>69.900000000000006</c:v>
                </c:pt>
                <c:pt idx="6">
                  <c:v>69.8</c:v>
                </c:pt>
              </c:numCache>
            </c:numRef>
          </c:val>
          <c:extLst>
            <c:ext xmlns:c16="http://schemas.microsoft.com/office/drawing/2014/chart" uri="{C3380CC4-5D6E-409C-BE32-E72D297353CC}">
              <c16:uniqueId val="{00000000-A964-43EE-B1F9-5B9E97728E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71"/>
          <c:min val="69"/>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8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1295C"/>
                </a:solidFill>
                <a:latin typeface="Arial"/>
              </a:defRPr>
            </a:pPr>
            <a:r>
              <a:rPr lang="en-US" sz="1200" b="0" i="0" u="none" strike="noStrike">
                <a:solidFill>
                  <a:srgbClr val="21295C"/>
                </a:solidFill>
                <a:latin typeface="Arial"/>
              </a:rPr>
              <a:t>ADR by Platform — Tripster &amp; Direct Offline lead</a:t>
            </a:r>
          </a:p>
        </c:rich>
      </c:tx>
      <c:overlay val="0"/>
    </c:title>
    <c:autoTitleDeleted val="0"/>
    <c:plotArea>
      <c:layout/>
      <c:lineChart>
        <c:grouping val="standard"/>
        <c:varyColors val="0"/>
        <c:ser>
          <c:idx val="0"/>
          <c:order val="0"/>
          <c:tx>
            <c:strRef>
              <c:f>Sheet1!$B$1</c:f>
              <c:strCache>
                <c:ptCount val="1"/>
                <c:pt idx="0">
                  <c:v>ADR</c:v>
                </c:pt>
              </c:strCache>
            </c:strRef>
          </c:tx>
          <c:spPr>
            <a:ln w="31750" cap="flat">
              <a:solidFill>
                <a:srgbClr val="21295C"/>
              </a:solidFill>
              <a:prstDash val="solid"/>
              <a:round/>
            </a:ln>
            <a:effectLst/>
          </c:spPr>
          <c:marker>
            <c:symbol val="circle"/>
            <c:size val="6"/>
            <c:spPr>
              <a:solidFill>
                <a:srgbClr val="21295C"/>
              </a:solidFill>
              <a:ln w="9525" cap="flat">
                <a:solidFill>
                  <a:srgbClr val="21295C"/>
                </a:solidFill>
                <a:prstDash val="solid"/>
                <a:round/>
              </a:ln>
              <a:effectLst/>
            </c:spPr>
          </c:marker>
          <c:cat>
            <c:strRef>
              <c:f>Sheet1!$A$2:$A$8</c:f>
              <c:strCache>
                <c:ptCount val="7"/>
                <c:pt idx="0">
                  <c:v>Logtrip</c:v>
                </c:pt>
                <c:pt idx="1">
                  <c:v>Journey</c:v>
                </c:pt>
                <c:pt idx="2">
                  <c:v>Direct Online</c:v>
                </c:pt>
                <c:pt idx="3">
                  <c:v>Direct Offline</c:v>
                </c:pt>
                <c:pt idx="4">
                  <c:v>Others</c:v>
                </c:pt>
                <c:pt idx="5">
                  <c:v>MakeYourTrip</c:v>
                </c:pt>
                <c:pt idx="6">
                  <c:v>Tripster</c:v>
                </c:pt>
              </c:strCache>
            </c:strRef>
          </c:cat>
          <c:val>
            <c:numRef>
              <c:f>Sheet1!$B$2:$B$8</c:f>
              <c:numCache>
                <c:formatCode>General</c:formatCode>
                <c:ptCount val="7"/>
                <c:pt idx="0">
                  <c:v>12705</c:v>
                </c:pt>
                <c:pt idx="1">
                  <c:v>12656</c:v>
                </c:pt>
                <c:pt idx="2">
                  <c:v>12638</c:v>
                </c:pt>
                <c:pt idx="3">
                  <c:v>12794</c:v>
                </c:pt>
                <c:pt idx="4">
                  <c:v>12702</c:v>
                </c:pt>
                <c:pt idx="5">
                  <c:v>12665</c:v>
                </c:pt>
                <c:pt idx="6">
                  <c:v>12778</c:v>
                </c:pt>
              </c:numCache>
            </c:numRef>
          </c:val>
          <c:smooth val="1"/>
          <c:extLst>
            <c:ext xmlns:c16="http://schemas.microsoft.com/office/drawing/2014/chart" uri="{C3380CC4-5D6E-409C-BE32-E72D297353CC}">
              <c16:uniqueId val="{00000000-AE0A-419E-96C8-05155D84911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2850"/>
          <c:min val="126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8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128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Open with the headline: across the AtliQ Mart portfolio there are three clear, low-cost opportunities to grow revenue without changing the overall pricing strategy.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Quick roadmap of the three findings before diving into each one with charts.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ADR is essentially a flat line. RevPAR and Occupancy move together in lockstep — point out the matching dips at W21, W23, W26, W30-31 across both charts.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pattern: properties rated below 3 sit at 44-53% occupancy, properties rated above 4 sit at 65%+ — despite similar pricing.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Point out: Tripster has both the highest ADR and the lowest realization rate — the worst combination for revenue leakage.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Close on the unifying theme: smarter use of existing data, not new spend.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End with a call to action — connect on LinkedIn or check out the portfolio.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2286000"/>
            <a:ext cx="5486400" cy="5486400"/>
          </a:xfrm>
          <a:prstGeom prst="ellipse">
            <a:avLst/>
          </a:prstGeom>
          <a:solidFill>
            <a:srgbClr val="065A82">
              <a:alpha val="30000"/>
            </a:srgbClr>
          </a:solidFill>
          <a:ln/>
        </p:spPr>
        <p:txBody>
          <a:bodyPr/>
          <a:lstStyle/>
          <a:p>
            <a:endParaRPr lang="en-US"/>
          </a:p>
        </p:txBody>
      </p:sp>
      <p:sp>
        <p:nvSpPr>
          <p:cNvPr id="3" name="Shape 1"/>
          <p:cNvSpPr/>
          <p:nvPr/>
        </p:nvSpPr>
        <p:spPr>
          <a:xfrm>
            <a:off x="-1828800" y="4114800"/>
            <a:ext cx="4572000" cy="4572000"/>
          </a:xfrm>
          <a:prstGeom prst="ellipse">
            <a:avLst/>
          </a:prstGeom>
          <a:solidFill>
            <a:srgbClr val="1C7293">
              <a:alpha val="25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548640"/>
            <a:ext cx="457200" cy="457200"/>
          </a:xfrm>
          <a:prstGeom prst="rect">
            <a:avLst/>
          </a:prstGeom>
        </p:spPr>
      </p:pic>
      <p:sp>
        <p:nvSpPr>
          <p:cNvPr id="5" name="Text 2"/>
          <p:cNvSpPr/>
          <p:nvPr/>
        </p:nvSpPr>
        <p:spPr>
          <a:xfrm>
            <a:off x="1188720" y="502920"/>
            <a:ext cx="7315200" cy="45720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ATLIQ MART  |  HOSPITALITY ANALYTICS</a:t>
            </a:r>
            <a:endParaRPr lang="en-US" sz="1400" dirty="0"/>
          </a:p>
        </p:txBody>
      </p:sp>
      <p:sp>
        <p:nvSpPr>
          <p:cNvPr id="6" name="Text 3"/>
          <p:cNvSpPr/>
          <p:nvPr/>
        </p:nvSpPr>
        <p:spPr>
          <a:xfrm>
            <a:off x="640080" y="2103120"/>
            <a:ext cx="9144000" cy="2194560"/>
          </a:xfrm>
          <a:prstGeom prst="rect">
            <a:avLst/>
          </a:prstGeom>
          <a:noFill/>
          <a:ln/>
        </p:spPr>
        <p:txBody>
          <a:bodyPr wrap="square" rtlCol="0" anchor="ctr"/>
          <a:lstStyle/>
          <a:p>
            <a:pPr marL="0" indent="0" algn="l">
              <a:lnSpc>
                <a:spcPts val="5200"/>
              </a:lnSpc>
              <a:buNone/>
            </a:pPr>
            <a:r>
              <a:rPr lang="en-US" sz="4600" b="1" dirty="0">
                <a:solidFill>
                  <a:srgbClr val="FFFFFF"/>
                </a:solidFill>
                <a:latin typeface="Cambria" pitchFamily="34" charset="0"/>
                <a:ea typeface="Cambria" pitchFamily="34" charset="-122"/>
                <a:cs typeface="Cambria" pitchFamily="34" charset="-120"/>
              </a:rPr>
              <a:t>Where Revenue Is Being</a:t>
            </a:r>
            <a:endParaRPr lang="en-US" sz="4600" dirty="0"/>
          </a:p>
          <a:p>
            <a:pPr marL="0" indent="0" algn="l">
              <a:lnSpc>
                <a:spcPts val="5200"/>
              </a:lnSpc>
              <a:buNone/>
            </a:pPr>
            <a:r>
              <a:rPr lang="en-US" sz="4600" b="1" dirty="0">
                <a:solidFill>
                  <a:srgbClr val="FFFFFF"/>
                </a:solidFill>
                <a:latin typeface="Cambria" pitchFamily="34" charset="0"/>
                <a:ea typeface="Cambria" pitchFamily="34" charset="-122"/>
                <a:cs typeface="Cambria" pitchFamily="34" charset="-120"/>
              </a:rPr>
              <a:t>Left on the Table</a:t>
            </a:r>
            <a:endParaRPr lang="en-US" sz="4600" dirty="0"/>
          </a:p>
        </p:txBody>
      </p:sp>
      <p:sp>
        <p:nvSpPr>
          <p:cNvPr id="7" name="Text 4"/>
          <p:cNvSpPr/>
          <p:nvPr/>
        </p:nvSpPr>
        <p:spPr>
          <a:xfrm>
            <a:off x="640080" y="4297680"/>
            <a:ext cx="7772400" cy="914400"/>
          </a:xfrm>
          <a:prstGeom prst="rect">
            <a:avLst/>
          </a:prstGeom>
          <a:noFill/>
          <a:ln/>
        </p:spPr>
        <p:txBody>
          <a:bodyPr wrap="square" rtlCol="0" anchor="ctr"/>
          <a:lstStyle/>
          <a:p>
            <a:pPr marL="0" indent="0">
              <a:lnSpc>
                <a:spcPts val="2400"/>
              </a:lnSpc>
              <a:buNone/>
            </a:pPr>
            <a:r>
              <a:rPr lang="en-US" sz="1600" dirty="0">
                <a:solidFill>
                  <a:srgbClr val="CADCFC"/>
                </a:solidFill>
                <a:latin typeface="Calibri" pitchFamily="34" charset="0"/>
                <a:ea typeface="Calibri" pitchFamily="34" charset="-122"/>
                <a:cs typeface="Calibri" pitchFamily="34" charset="-120"/>
              </a:rPr>
              <a:t>A data-driven story across the AtliQ Mart hotel portfolio — three insights, three business solutions, and a low-cost roadmap to lift RevPAR.</a:t>
            </a:r>
            <a:endParaRPr lang="en-US" sz="1600" dirty="0"/>
          </a:p>
        </p:txBody>
      </p:sp>
      <p:sp>
        <p:nvSpPr>
          <p:cNvPr id="8" name="Text 5"/>
          <p:cNvSpPr/>
          <p:nvPr/>
        </p:nvSpPr>
        <p:spPr>
          <a:xfrm>
            <a:off x="640080" y="6126480"/>
            <a:ext cx="7315200" cy="365760"/>
          </a:xfrm>
          <a:prstGeom prst="rect">
            <a:avLst/>
          </a:prstGeom>
          <a:noFill/>
          <a:ln/>
        </p:spPr>
        <p:txBody>
          <a:bodyPr wrap="square" rtlCol="0" anchor="ctr"/>
          <a:lstStyle/>
          <a:p>
            <a:pPr marL="0" indent="0">
              <a:buNone/>
            </a:pPr>
            <a:r>
              <a:rPr lang="en-US" sz="1100" dirty="0">
                <a:solidFill>
                  <a:srgbClr val="8FA8D6"/>
                </a:solidFill>
                <a:latin typeface="Calibri" pitchFamily="34" charset="0"/>
                <a:ea typeface="Calibri" pitchFamily="34" charset="-122"/>
                <a:cs typeface="Calibri" pitchFamily="34" charset="-120"/>
              </a:rPr>
              <a:t>Prepared by Hiran  •  Power BI Resume Project (Codebasics)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roblem Statement">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2286000"/>
            <a:ext cx="5486400" cy="5486400"/>
          </a:xfrm>
          <a:prstGeom prst="ellipse">
            <a:avLst/>
          </a:prstGeom>
          <a:solidFill>
            <a:srgbClr val="065A82">
              <a:alpha val="30000"/>
            </a:srgbClr>
          </a:solidFill>
          <a:ln/>
        </p:spPr>
        <p:txBody>
          <a:bodyPr/>
          <a:lstStyle/>
          <a:p>
            <a:endParaRPr lang="en-US"/>
          </a:p>
        </p:txBody>
      </p:sp>
      <p:sp>
        <p:nvSpPr>
          <p:cNvPr id="3" name="Shape 1"/>
          <p:cNvSpPr/>
          <p:nvPr/>
        </p:nvSpPr>
        <p:spPr>
          <a:xfrm>
            <a:off x="-1828800" y="4114800"/>
            <a:ext cx="4572000" cy="4572000"/>
          </a:xfrm>
          <a:prstGeom prst="ellipse">
            <a:avLst/>
          </a:prstGeom>
          <a:solidFill>
            <a:srgbClr val="1C7293">
              <a:alpha val="25000"/>
            </a:srgbClr>
          </a:solidFill>
          <a:ln/>
        </p:spPr>
        <p:txBody>
          <a:bodyPr/>
          <a:lstStyle/>
          <a:p>
            <a:endParaRPr lang="en-US"/>
          </a:p>
        </p:txBody>
      </p:sp>
      <p:sp>
        <p:nvSpPr>
          <p:cNvPr id="4" name="Label"/>
          <p:cNvSpPr/>
          <p:nvPr/>
        </p:nvSpPr>
        <p:spPr>
          <a:xfrm>
            <a:off x="577215" y="339143"/>
            <a:ext cx="3657600" cy="320400"/>
          </a:xfrm>
          <a:prstGeom prst="rect">
            <a:avLst/>
          </a:prstGeom>
          <a:solidFill>
            <a:srgbClr val="065A82"/>
          </a:solidFill>
          <a:ln/>
        </p:spPr>
        <p:txBody>
          <a:bodyPr wrap="square" lIns="91440" tIns="45720" rIns="91440" bIns="45720" rtlCol="0" anchor="ctr"/>
          <a:lstStyle/>
          <a:p>
            <a:pPr marL="0" indent="0">
              <a:buNone/>
            </a:pPr>
            <a:r>
              <a:rPr lang="en-US" sz="1600" b="1" kern="0" spc="300" dirty="0">
                <a:solidFill>
                  <a:srgbClr val="CADCFC"/>
                </a:solidFill>
                <a:latin typeface="Calibri" pitchFamily="34" charset="0"/>
              </a:rPr>
              <a:t>PROBLEM STATEMENT</a:t>
            </a:r>
          </a:p>
        </p:txBody>
      </p:sp>
      <p:sp>
        <p:nvSpPr>
          <p:cNvPr id="5" name="Title"/>
          <p:cNvSpPr/>
          <p:nvPr/>
        </p:nvSpPr>
        <p:spPr>
          <a:xfrm>
            <a:off x="640080" y="685800"/>
            <a:ext cx="10912320" cy="68580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rPr>
              <a:t>AtliQ Mart Hotels: Hospitality Domain</a:t>
            </a:r>
          </a:p>
        </p:txBody>
      </p:sp>
      <p:sp>
        <p:nvSpPr>
          <p:cNvPr id="7" name="Card1Bg"/>
          <p:cNvSpPr/>
          <p:nvPr/>
        </p:nvSpPr>
        <p:spPr>
          <a:xfrm>
            <a:off x="577215" y="1558057"/>
            <a:ext cx="11037570" cy="4718918"/>
          </a:xfrm>
          <a:prstGeom prst="rect">
            <a:avLst/>
          </a:prstGeom>
          <a:solidFill>
            <a:srgbClr val="065A82">
              <a:alpha val="60000"/>
            </a:srgbClr>
          </a:solidFill>
          <a:ln>
            <a:solidFill>
              <a:srgbClr val="1C7293"/>
            </a:solidFill>
          </a:ln>
        </p:spPr>
        <p:txBody>
          <a:bodyPr/>
          <a:lstStyle/>
          <a:p>
            <a:endParaRPr lang="en-US" dirty="0"/>
          </a:p>
        </p:txBody>
      </p:sp>
      <p:sp>
        <p:nvSpPr>
          <p:cNvPr id="8" name="Card1Text"/>
          <p:cNvSpPr/>
          <p:nvPr/>
        </p:nvSpPr>
        <p:spPr>
          <a:xfrm>
            <a:off x="732000" y="2321602"/>
            <a:ext cx="10820400" cy="3850598"/>
          </a:xfrm>
          <a:prstGeom prst="rect">
            <a:avLst/>
          </a:prstGeom>
          <a:noFill/>
          <a:ln/>
        </p:spPr>
        <p:txBody>
          <a:bodyPr wrap="square" lIns="91440" tIns="91440" rIns="91440" bIns="91440" rtlCol="0" anchor="t"/>
          <a:lstStyle/>
          <a:p>
            <a:pPr marL="0" indent="0" algn="l">
              <a:lnSpc>
                <a:spcPts val="2400"/>
              </a:lnSpc>
              <a:buNone/>
            </a:pPr>
            <a:endParaRPr lang="en-US" sz="1300" dirty="0">
              <a:solidFill>
                <a:srgbClr val="CADCFC"/>
              </a:solidFill>
              <a:latin typeface="Calibri" pitchFamily="34" charset="0"/>
            </a:endParaRPr>
          </a:p>
        </p:txBody>
      </p:sp>
      <p:sp>
        <p:nvSpPr>
          <p:cNvPr id="16" name="TextBox 15">
            <a:extLst>
              <a:ext uri="{FF2B5EF4-FFF2-40B4-BE49-F238E27FC236}">
                <a16:creationId xmlns:a16="http://schemas.microsoft.com/office/drawing/2014/main" id="{E1F2AAC9-EBC3-6728-362F-E95F81B47209}"/>
              </a:ext>
            </a:extLst>
          </p:cNvPr>
          <p:cNvSpPr txBox="1"/>
          <p:nvPr/>
        </p:nvSpPr>
        <p:spPr>
          <a:xfrm>
            <a:off x="893448" y="1990725"/>
            <a:ext cx="10566552" cy="3416320"/>
          </a:xfrm>
          <a:prstGeom prst="rect">
            <a:avLst/>
          </a:prstGeom>
          <a:noFill/>
        </p:spPr>
        <p:txBody>
          <a:bodyPr wrap="square" rtlCol="0">
            <a:spAutoFit/>
          </a:bodyPr>
          <a:lstStyle/>
          <a:p>
            <a:r>
              <a:rPr lang="en-US" sz="2400" dirty="0">
                <a:solidFill>
                  <a:schemeClr val="bg1"/>
                </a:solidFill>
              </a:rPr>
              <a:t>Atliq Grands owns multiple five-star hotels across India. They have been in the hospitality industry for the past 20 years. Due to strategic moves from competitors and ineffective decision-making in management, Atliq Grands is losing its market share and revenue in the luxury/business hotel category. As a strategic move, the managing director of Atliq Grands wanted to incorporate "business and data intelligence" to regain their market share and revenue. However, they do not have an in-house data analytics team to provide them with these insights. Their revenue management team has decided to hire a third-party provider to provide them with insights from their historical data.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1D6B024F-1179-DDC9-690A-07AF22D61B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C59EC02-5A78-6685-5177-59EEA6826BB2}"/>
              </a:ext>
            </a:extLst>
          </p:cNvPr>
          <p:cNvSpPr/>
          <p:nvPr/>
        </p:nvSpPr>
        <p:spPr>
          <a:xfrm>
            <a:off x="8961120" y="-2286000"/>
            <a:ext cx="5486400" cy="5486400"/>
          </a:xfrm>
          <a:prstGeom prst="ellipse">
            <a:avLst/>
          </a:prstGeom>
          <a:solidFill>
            <a:srgbClr val="065A82">
              <a:alpha val="30000"/>
            </a:srgbClr>
          </a:solidFill>
          <a:ln/>
        </p:spPr>
        <p:txBody>
          <a:bodyPr/>
          <a:lstStyle/>
          <a:p>
            <a:endParaRPr lang="en-US"/>
          </a:p>
        </p:txBody>
      </p:sp>
      <p:sp>
        <p:nvSpPr>
          <p:cNvPr id="3" name="Shape 1">
            <a:extLst>
              <a:ext uri="{FF2B5EF4-FFF2-40B4-BE49-F238E27FC236}">
                <a16:creationId xmlns:a16="http://schemas.microsoft.com/office/drawing/2014/main" id="{FA239EF0-E049-C4AC-6B03-8ACDA70F7B7B}"/>
              </a:ext>
            </a:extLst>
          </p:cNvPr>
          <p:cNvSpPr/>
          <p:nvPr/>
        </p:nvSpPr>
        <p:spPr>
          <a:xfrm>
            <a:off x="-1828800" y="4114800"/>
            <a:ext cx="4572000" cy="4572000"/>
          </a:xfrm>
          <a:prstGeom prst="ellipse">
            <a:avLst/>
          </a:prstGeom>
          <a:solidFill>
            <a:srgbClr val="1C7293">
              <a:alpha val="25000"/>
            </a:srgbClr>
          </a:solidFill>
          <a:ln/>
        </p:spPr>
        <p:txBody>
          <a:bodyPr/>
          <a:lstStyle/>
          <a:p>
            <a:endParaRPr lang="en-US"/>
          </a:p>
        </p:txBody>
      </p:sp>
      <p:sp>
        <p:nvSpPr>
          <p:cNvPr id="4" name="Label">
            <a:extLst>
              <a:ext uri="{FF2B5EF4-FFF2-40B4-BE49-F238E27FC236}">
                <a16:creationId xmlns:a16="http://schemas.microsoft.com/office/drawing/2014/main" id="{B8C249AF-F2E0-EFC4-DA55-5B700D6359AF}"/>
              </a:ext>
            </a:extLst>
          </p:cNvPr>
          <p:cNvSpPr/>
          <p:nvPr/>
        </p:nvSpPr>
        <p:spPr>
          <a:xfrm>
            <a:off x="457200" y="331658"/>
            <a:ext cx="3657600" cy="320400"/>
          </a:xfrm>
          <a:prstGeom prst="rect">
            <a:avLst/>
          </a:prstGeom>
          <a:solidFill>
            <a:srgbClr val="065A82"/>
          </a:solidFill>
          <a:ln/>
        </p:spPr>
        <p:txBody>
          <a:bodyPr wrap="square" lIns="91440" tIns="45720" rIns="91440" bIns="45720" rtlCol="0" anchor="ctr"/>
          <a:lstStyle/>
          <a:p>
            <a:pPr marL="0" indent="0">
              <a:buNone/>
            </a:pPr>
            <a:r>
              <a:rPr lang="en-US" sz="1600" b="1" kern="0" spc="300" dirty="0">
                <a:solidFill>
                  <a:srgbClr val="CADCFC"/>
                </a:solidFill>
                <a:latin typeface="Calibri" pitchFamily="34" charset="0"/>
              </a:rPr>
              <a:t> Final </a:t>
            </a:r>
            <a:r>
              <a:rPr lang="en-US" b="1" kern="0" spc="300" dirty="0">
                <a:solidFill>
                  <a:srgbClr val="CADCFC"/>
                </a:solidFill>
                <a:latin typeface="Calibri" pitchFamily="34" charset="0"/>
              </a:rPr>
              <a:t>Dashboard</a:t>
            </a:r>
          </a:p>
        </p:txBody>
      </p:sp>
      <p:sp>
        <p:nvSpPr>
          <p:cNvPr id="7" name="Card1Bg">
            <a:extLst>
              <a:ext uri="{FF2B5EF4-FFF2-40B4-BE49-F238E27FC236}">
                <a16:creationId xmlns:a16="http://schemas.microsoft.com/office/drawing/2014/main" id="{5F4488DE-2F78-37B4-F5D9-C90D2F568F13}"/>
              </a:ext>
            </a:extLst>
          </p:cNvPr>
          <p:cNvSpPr/>
          <p:nvPr/>
        </p:nvSpPr>
        <p:spPr>
          <a:xfrm>
            <a:off x="457200" y="815115"/>
            <a:ext cx="11037570" cy="5840542"/>
          </a:xfrm>
          <a:prstGeom prst="rect">
            <a:avLst/>
          </a:prstGeom>
          <a:solidFill>
            <a:srgbClr val="065A82">
              <a:alpha val="60000"/>
            </a:srgbClr>
          </a:solidFill>
          <a:ln>
            <a:solidFill>
              <a:srgbClr val="1C7293"/>
            </a:solidFill>
          </a:ln>
        </p:spPr>
        <p:txBody>
          <a:bodyPr/>
          <a:lstStyle/>
          <a:p>
            <a:endParaRPr lang="en-US" dirty="0"/>
          </a:p>
        </p:txBody>
      </p:sp>
      <p:sp>
        <p:nvSpPr>
          <p:cNvPr id="8" name="Card1Text">
            <a:extLst>
              <a:ext uri="{FF2B5EF4-FFF2-40B4-BE49-F238E27FC236}">
                <a16:creationId xmlns:a16="http://schemas.microsoft.com/office/drawing/2014/main" id="{52EA82DA-61EC-04F4-1CAA-6CD9066C01D7}"/>
              </a:ext>
            </a:extLst>
          </p:cNvPr>
          <p:cNvSpPr/>
          <p:nvPr/>
        </p:nvSpPr>
        <p:spPr>
          <a:xfrm>
            <a:off x="732000" y="2321602"/>
            <a:ext cx="10820400" cy="3850598"/>
          </a:xfrm>
          <a:prstGeom prst="rect">
            <a:avLst/>
          </a:prstGeom>
          <a:noFill/>
          <a:ln/>
        </p:spPr>
        <p:txBody>
          <a:bodyPr wrap="square" lIns="91440" tIns="91440" rIns="91440" bIns="91440" rtlCol="0" anchor="t"/>
          <a:lstStyle/>
          <a:p>
            <a:pPr marL="0" indent="0" algn="l">
              <a:lnSpc>
                <a:spcPts val="2400"/>
              </a:lnSpc>
              <a:buNone/>
            </a:pPr>
            <a:endParaRPr lang="en-US" sz="1300" dirty="0">
              <a:solidFill>
                <a:srgbClr val="CADCFC"/>
              </a:solidFill>
              <a:latin typeface="Calibri" pitchFamily="34" charset="0"/>
            </a:endParaRPr>
          </a:p>
        </p:txBody>
      </p:sp>
      <p:pic>
        <p:nvPicPr>
          <p:cNvPr id="9" name="Picture 8">
            <a:extLst>
              <a:ext uri="{FF2B5EF4-FFF2-40B4-BE49-F238E27FC236}">
                <a16:creationId xmlns:a16="http://schemas.microsoft.com/office/drawing/2014/main" id="{A018BEFF-FBE4-D46B-E429-E405FC6EA401}"/>
              </a:ext>
            </a:extLst>
          </p:cNvPr>
          <p:cNvPicPr>
            <a:picLocks noChangeAspect="1"/>
          </p:cNvPicPr>
          <p:nvPr/>
        </p:nvPicPr>
        <p:blipFill>
          <a:blip r:embed="rId2"/>
          <a:stretch>
            <a:fillRect/>
          </a:stretch>
        </p:blipFill>
        <p:spPr>
          <a:xfrm>
            <a:off x="457200" y="815115"/>
            <a:ext cx="11002800" cy="5840542"/>
          </a:xfrm>
          <a:prstGeom prst="rect">
            <a:avLst/>
          </a:prstGeom>
        </p:spPr>
      </p:pic>
    </p:spTree>
    <p:extLst>
      <p:ext uri="{BB962C8B-B14F-4D97-AF65-F5344CB8AC3E}">
        <p14:creationId xmlns:p14="http://schemas.microsoft.com/office/powerpoint/2010/main" val="2540252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82296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The Story in Three Parts</a:t>
            </a:r>
            <a:endParaRPr lang="en-US" sz="3200" dirty="0"/>
          </a:p>
        </p:txBody>
      </p:sp>
      <p:sp>
        <p:nvSpPr>
          <p:cNvPr id="3" name="Text 1"/>
          <p:cNvSpPr/>
          <p:nvPr/>
        </p:nvSpPr>
        <p:spPr>
          <a:xfrm>
            <a:off x="640080" y="1234440"/>
            <a:ext cx="10058400" cy="45720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Each insight pairs a data pattern from the dashboard with a concrete, low-cost business solution.</a:t>
            </a:r>
            <a:endParaRPr lang="en-US" sz="1400" dirty="0"/>
          </a:p>
        </p:txBody>
      </p:sp>
      <p:sp>
        <p:nvSpPr>
          <p:cNvPr id="4" name="Shape 2"/>
          <p:cNvSpPr/>
          <p:nvPr/>
        </p:nvSpPr>
        <p:spPr>
          <a:xfrm>
            <a:off x="640080" y="2194560"/>
            <a:ext cx="3291840" cy="3931920"/>
          </a:xfrm>
          <a:prstGeom prst="roundRect">
            <a:avLst>
              <a:gd name="adj" fmla="val 3333"/>
            </a:avLst>
          </a:prstGeom>
          <a:solidFill>
            <a:srgbClr val="F4F8FA"/>
          </a:solidFill>
          <a:ln/>
          <a:effectLst>
            <a:outerShdw blurRad="76200" dist="25400" dir="2700000" algn="bl" rotWithShape="0">
              <a:srgbClr val="000000">
                <a:alpha val="12000"/>
              </a:srgbClr>
            </a:outerShdw>
          </a:effectLst>
        </p:spPr>
        <p:txBody>
          <a:bodyPr/>
          <a:lstStyle/>
          <a:p>
            <a:endParaRPr lang="en-US"/>
          </a:p>
        </p:txBody>
      </p:sp>
      <p:sp>
        <p:nvSpPr>
          <p:cNvPr id="5" name="Shape 3"/>
          <p:cNvSpPr/>
          <p:nvPr/>
        </p:nvSpPr>
        <p:spPr>
          <a:xfrm>
            <a:off x="914400" y="2514600"/>
            <a:ext cx="731520" cy="731520"/>
          </a:xfrm>
          <a:prstGeom prst="ellipse">
            <a:avLst/>
          </a:prstGeom>
          <a:solidFill>
            <a:srgbClr val="FFFFFF"/>
          </a:solidFill>
          <a:ln/>
          <a:effectLst>
            <a:outerShdw blurRad="76200" dist="25400" dir="27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97280" y="2697480"/>
            <a:ext cx="365760" cy="365760"/>
          </a:xfrm>
          <a:prstGeom prst="rect">
            <a:avLst/>
          </a:prstGeom>
        </p:spPr>
      </p:pic>
      <p:sp>
        <p:nvSpPr>
          <p:cNvPr id="7" name="Text 4"/>
          <p:cNvSpPr/>
          <p:nvPr/>
        </p:nvSpPr>
        <p:spPr>
          <a:xfrm>
            <a:off x="2926080" y="2468880"/>
            <a:ext cx="822960" cy="731520"/>
          </a:xfrm>
          <a:prstGeom prst="rect">
            <a:avLst/>
          </a:prstGeom>
          <a:noFill/>
          <a:ln/>
        </p:spPr>
        <p:txBody>
          <a:bodyPr wrap="square" lIns="0" tIns="0" rIns="0" bIns="0" rtlCol="0" anchor="ctr"/>
          <a:lstStyle/>
          <a:p>
            <a:pPr marL="0" indent="0" algn="r">
              <a:buNone/>
            </a:pPr>
            <a:r>
              <a:rPr lang="en-US" sz="3600" b="1" dirty="0">
                <a:solidFill>
                  <a:srgbClr val="065A82"/>
                </a:solidFill>
                <a:latin typeface="Cambria" pitchFamily="34" charset="0"/>
                <a:ea typeface="Cambria" pitchFamily="34" charset="-122"/>
                <a:cs typeface="Cambria" pitchFamily="34" charset="-120"/>
              </a:rPr>
              <a:t>01</a:t>
            </a:r>
            <a:endParaRPr lang="en-US" sz="3600" dirty="0"/>
          </a:p>
        </p:txBody>
      </p:sp>
      <p:sp>
        <p:nvSpPr>
          <p:cNvPr id="8" name="Text 5"/>
          <p:cNvSpPr/>
          <p:nvPr/>
        </p:nvSpPr>
        <p:spPr>
          <a:xfrm>
            <a:off x="914400" y="3566160"/>
            <a:ext cx="2743200" cy="1188720"/>
          </a:xfrm>
          <a:prstGeom prst="rect">
            <a:avLst/>
          </a:prstGeom>
          <a:noFill/>
          <a:ln/>
        </p:spPr>
        <p:txBody>
          <a:bodyPr wrap="square" lIns="0" tIns="0" rIns="0" bIns="0" rtlCol="0" anchor="ctr"/>
          <a:lstStyle/>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Pricing Doesn't</a:t>
            </a:r>
            <a:endParaRPr lang="en-US" sz="2200" dirty="0"/>
          </a:p>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Follow Demand</a:t>
            </a:r>
            <a:endParaRPr lang="en-US" sz="2200" dirty="0"/>
          </a:p>
        </p:txBody>
      </p:sp>
      <p:sp>
        <p:nvSpPr>
          <p:cNvPr id="9" name="Text 6"/>
          <p:cNvSpPr/>
          <p:nvPr/>
        </p:nvSpPr>
        <p:spPr>
          <a:xfrm>
            <a:off x="914400" y="4937760"/>
            <a:ext cx="2743200" cy="1005840"/>
          </a:xfrm>
          <a:prstGeom prst="rect">
            <a:avLst/>
          </a:prstGeom>
          <a:noFill/>
          <a:ln/>
        </p:spPr>
        <p:txBody>
          <a:bodyPr wrap="square" lIns="0" tIns="0" rIns="0" bIns="0" rtlCol="0" anchor="ctr"/>
          <a:lstStyle/>
          <a:p>
            <a:pPr marL="0" indent="0">
              <a:lnSpc>
                <a:spcPts val="1800"/>
              </a:lnSpc>
              <a:buNone/>
            </a:pPr>
            <a:r>
              <a:rPr lang="en-US" sz="1300" dirty="0">
                <a:solidFill>
                  <a:srgbClr val="64748B"/>
                </a:solidFill>
                <a:latin typeface="Calibri" pitchFamily="34" charset="0"/>
                <a:ea typeface="Calibri" pitchFamily="34" charset="-122"/>
                <a:cs typeface="Calibri" pitchFamily="34" charset="-120"/>
              </a:rPr>
              <a:t>ADR stays flat regardless of occupancy swings</a:t>
            </a:r>
            <a:endParaRPr lang="en-US" sz="1300" dirty="0"/>
          </a:p>
        </p:txBody>
      </p:sp>
      <p:sp>
        <p:nvSpPr>
          <p:cNvPr id="10" name="Shape 7"/>
          <p:cNvSpPr/>
          <p:nvPr/>
        </p:nvSpPr>
        <p:spPr>
          <a:xfrm>
            <a:off x="4343400" y="2194560"/>
            <a:ext cx="3291840" cy="3931920"/>
          </a:xfrm>
          <a:prstGeom prst="roundRect">
            <a:avLst>
              <a:gd name="adj" fmla="val 3333"/>
            </a:avLst>
          </a:prstGeom>
          <a:solidFill>
            <a:srgbClr val="F4F8FA"/>
          </a:solidFill>
          <a:ln/>
          <a:effectLst>
            <a:outerShdw blurRad="76200" dist="25400" dir="2700000" algn="bl" rotWithShape="0">
              <a:srgbClr val="000000">
                <a:alpha val="12000"/>
              </a:srgbClr>
            </a:outerShdw>
          </a:effectLst>
        </p:spPr>
        <p:txBody>
          <a:bodyPr/>
          <a:lstStyle/>
          <a:p>
            <a:endParaRPr lang="en-US"/>
          </a:p>
        </p:txBody>
      </p:sp>
      <p:sp>
        <p:nvSpPr>
          <p:cNvPr id="11" name="Shape 8"/>
          <p:cNvSpPr/>
          <p:nvPr/>
        </p:nvSpPr>
        <p:spPr>
          <a:xfrm>
            <a:off x="4617720" y="2514600"/>
            <a:ext cx="731520" cy="731520"/>
          </a:xfrm>
          <a:prstGeom prst="ellipse">
            <a:avLst/>
          </a:prstGeom>
          <a:solidFill>
            <a:srgbClr val="FFFFFF"/>
          </a:solidFill>
          <a:ln/>
          <a:effectLst>
            <a:outerShdw blurRad="76200" dist="25400" dir="2700000" algn="bl" rotWithShape="0">
              <a:srgbClr val="000000">
                <a:alpha val="12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800600" y="2697480"/>
            <a:ext cx="365760" cy="365760"/>
          </a:xfrm>
          <a:prstGeom prst="rect">
            <a:avLst/>
          </a:prstGeom>
        </p:spPr>
      </p:pic>
      <p:sp>
        <p:nvSpPr>
          <p:cNvPr id="13" name="Text 9"/>
          <p:cNvSpPr/>
          <p:nvPr/>
        </p:nvSpPr>
        <p:spPr>
          <a:xfrm>
            <a:off x="6629400" y="2468880"/>
            <a:ext cx="822960" cy="731520"/>
          </a:xfrm>
          <a:prstGeom prst="rect">
            <a:avLst/>
          </a:prstGeom>
          <a:noFill/>
          <a:ln/>
        </p:spPr>
        <p:txBody>
          <a:bodyPr wrap="square" lIns="0" tIns="0" rIns="0" bIns="0" rtlCol="0" anchor="ctr"/>
          <a:lstStyle/>
          <a:p>
            <a:pPr marL="0" indent="0" algn="r">
              <a:buNone/>
            </a:pPr>
            <a:r>
              <a:rPr lang="en-US" sz="3600" b="1" dirty="0">
                <a:solidFill>
                  <a:srgbClr val="065A82"/>
                </a:solidFill>
                <a:latin typeface="Cambria" pitchFamily="34" charset="0"/>
                <a:ea typeface="Cambria" pitchFamily="34" charset="-122"/>
                <a:cs typeface="Cambria" pitchFamily="34" charset="-120"/>
              </a:rPr>
              <a:t>02</a:t>
            </a:r>
            <a:endParaRPr lang="en-US" sz="3600" dirty="0"/>
          </a:p>
        </p:txBody>
      </p:sp>
      <p:sp>
        <p:nvSpPr>
          <p:cNvPr id="14" name="Text 10"/>
          <p:cNvSpPr/>
          <p:nvPr/>
        </p:nvSpPr>
        <p:spPr>
          <a:xfrm>
            <a:off x="4617720" y="3566160"/>
            <a:ext cx="2743200" cy="1188720"/>
          </a:xfrm>
          <a:prstGeom prst="rect">
            <a:avLst/>
          </a:prstGeom>
          <a:noFill/>
          <a:ln/>
        </p:spPr>
        <p:txBody>
          <a:bodyPr wrap="square" lIns="0" tIns="0" rIns="0" bIns="0" rtlCol="0" anchor="ctr"/>
          <a:lstStyle/>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Low Ratings Are</a:t>
            </a:r>
            <a:endParaRPr lang="en-US" sz="2200" dirty="0"/>
          </a:p>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Capping Occupancy</a:t>
            </a:r>
            <a:endParaRPr lang="en-US" sz="2200" dirty="0"/>
          </a:p>
        </p:txBody>
      </p:sp>
      <p:sp>
        <p:nvSpPr>
          <p:cNvPr id="15" name="Text 11"/>
          <p:cNvSpPr/>
          <p:nvPr/>
        </p:nvSpPr>
        <p:spPr>
          <a:xfrm>
            <a:off x="4617720" y="4937760"/>
            <a:ext cx="2743200" cy="1005840"/>
          </a:xfrm>
          <a:prstGeom prst="rect">
            <a:avLst/>
          </a:prstGeom>
          <a:noFill/>
          <a:ln/>
        </p:spPr>
        <p:txBody>
          <a:bodyPr wrap="square" lIns="0" tIns="0" rIns="0" bIns="0" rtlCol="0" anchor="ctr"/>
          <a:lstStyle/>
          <a:p>
            <a:pPr marL="0" indent="0">
              <a:lnSpc>
                <a:spcPts val="1800"/>
              </a:lnSpc>
              <a:buNone/>
            </a:pPr>
            <a:r>
              <a:rPr lang="en-US" sz="1300" dirty="0">
                <a:solidFill>
                  <a:srgbClr val="64748B"/>
                </a:solidFill>
                <a:latin typeface="Calibri" pitchFamily="34" charset="0"/>
                <a:ea typeface="Calibri" pitchFamily="34" charset="-122"/>
                <a:cs typeface="Calibri" pitchFamily="34" charset="-120"/>
              </a:rPr>
              <a:t>Guest experience, not price, is the bottleneck</a:t>
            </a:r>
            <a:endParaRPr lang="en-US" sz="1300" dirty="0"/>
          </a:p>
        </p:txBody>
      </p:sp>
      <p:sp>
        <p:nvSpPr>
          <p:cNvPr id="16" name="Shape 12"/>
          <p:cNvSpPr/>
          <p:nvPr/>
        </p:nvSpPr>
        <p:spPr>
          <a:xfrm>
            <a:off x="8046720" y="2194560"/>
            <a:ext cx="3291840" cy="3931920"/>
          </a:xfrm>
          <a:prstGeom prst="roundRect">
            <a:avLst>
              <a:gd name="adj" fmla="val 3333"/>
            </a:avLst>
          </a:prstGeom>
          <a:solidFill>
            <a:srgbClr val="F4F8FA"/>
          </a:solidFill>
          <a:ln/>
          <a:effectLst>
            <a:outerShdw blurRad="76200" dist="25400" dir="2700000" algn="bl" rotWithShape="0">
              <a:srgbClr val="000000">
                <a:alpha val="12000"/>
              </a:srgbClr>
            </a:outerShdw>
          </a:effectLst>
        </p:spPr>
        <p:txBody>
          <a:bodyPr/>
          <a:lstStyle/>
          <a:p>
            <a:endParaRPr lang="en-US"/>
          </a:p>
        </p:txBody>
      </p:sp>
      <p:sp>
        <p:nvSpPr>
          <p:cNvPr id="17" name="Shape 13"/>
          <p:cNvSpPr/>
          <p:nvPr/>
        </p:nvSpPr>
        <p:spPr>
          <a:xfrm>
            <a:off x="8321040" y="2514600"/>
            <a:ext cx="731520" cy="731520"/>
          </a:xfrm>
          <a:prstGeom prst="ellipse">
            <a:avLst/>
          </a:prstGeom>
          <a:solidFill>
            <a:srgbClr val="FFFFFF"/>
          </a:solidFill>
          <a:ln/>
          <a:effectLst>
            <a:outerShdw blurRad="76200" dist="25400" dir="2700000" algn="bl" rotWithShape="0">
              <a:srgbClr val="000000">
                <a:alpha val="12000"/>
              </a:srgbClr>
            </a:outerShdw>
          </a:effectLst>
        </p:spPr>
        <p:txBody>
          <a:bodyPr/>
          <a:lstStyle/>
          <a:p>
            <a:endParaRPr lang="en-US"/>
          </a:p>
        </p:txBody>
      </p:sp>
      <p:pic>
        <p:nvPicPr>
          <p:cNvPr id="18" name="Image 2" descr="preencoded.png"/>
          <p:cNvPicPr>
            <a:picLocks noChangeAspect="1"/>
          </p:cNvPicPr>
          <p:nvPr/>
        </p:nvPicPr>
        <p:blipFill>
          <a:blip r:embed="rId5"/>
          <a:stretch>
            <a:fillRect/>
          </a:stretch>
        </p:blipFill>
        <p:spPr>
          <a:xfrm>
            <a:off x="8503920" y="2697480"/>
            <a:ext cx="365760" cy="365760"/>
          </a:xfrm>
          <a:prstGeom prst="rect">
            <a:avLst/>
          </a:prstGeom>
        </p:spPr>
      </p:pic>
      <p:sp>
        <p:nvSpPr>
          <p:cNvPr id="19" name="Text 14"/>
          <p:cNvSpPr/>
          <p:nvPr/>
        </p:nvSpPr>
        <p:spPr>
          <a:xfrm>
            <a:off x="10332720" y="2468880"/>
            <a:ext cx="822960" cy="731520"/>
          </a:xfrm>
          <a:prstGeom prst="rect">
            <a:avLst/>
          </a:prstGeom>
          <a:noFill/>
          <a:ln/>
        </p:spPr>
        <p:txBody>
          <a:bodyPr wrap="square" lIns="0" tIns="0" rIns="0" bIns="0" rtlCol="0" anchor="ctr"/>
          <a:lstStyle/>
          <a:p>
            <a:pPr marL="0" indent="0" algn="r">
              <a:buNone/>
            </a:pPr>
            <a:r>
              <a:rPr lang="en-US" sz="3600" b="1" dirty="0">
                <a:solidFill>
                  <a:srgbClr val="065A82"/>
                </a:solidFill>
                <a:latin typeface="Cambria" pitchFamily="34" charset="0"/>
                <a:ea typeface="Cambria" pitchFamily="34" charset="-122"/>
                <a:cs typeface="Cambria" pitchFamily="34" charset="-120"/>
              </a:rPr>
              <a:t>03</a:t>
            </a:r>
            <a:endParaRPr lang="en-US" sz="3600" dirty="0"/>
          </a:p>
        </p:txBody>
      </p:sp>
      <p:sp>
        <p:nvSpPr>
          <p:cNvPr id="20" name="Text 15"/>
          <p:cNvSpPr/>
          <p:nvPr/>
        </p:nvSpPr>
        <p:spPr>
          <a:xfrm>
            <a:off x="8321040" y="3566160"/>
            <a:ext cx="2743200" cy="1188720"/>
          </a:xfrm>
          <a:prstGeom prst="rect">
            <a:avLst/>
          </a:prstGeom>
          <a:noFill/>
          <a:ln/>
        </p:spPr>
        <p:txBody>
          <a:bodyPr wrap="square" lIns="0" tIns="0" rIns="0" bIns="0" rtlCol="0" anchor="ctr"/>
          <a:lstStyle/>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High-Value Bookings</a:t>
            </a:r>
            <a:endParaRPr lang="en-US" sz="2200" dirty="0"/>
          </a:p>
          <a:p>
            <a:pPr marL="0" indent="0">
              <a:lnSpc>
                <a:spcPts val="2600"/>
              </a:lnSpc>
              <a:buNone/>
            </a:pPr>
            <a:r>
              <a:rPr lang="en-US" sz="2200" b="1" dirty="0">
                <a:solidFill>
                  <a:srgbClr val="21295C"/>
                </a:solidFill>
                <a:latin typeface="Cambria" pitchFamily="34" charset="0"/>
                <a:ea typeface="Cambria" pitchFamily="34" charset="-122"/>
                <a:cs typeface="Cambria" pitchFamily="34" charset="-120"/>
              </a:rPr>
              <a:t>Are Slipping Away</a:t>
            </a:r>
            <a:endParaRPr lang="en-US" sz="2200" dirty="0"/>
          </a:p>
        </p:txBody>
      </p:sp>
      <p:sp>
        <p:nvSpPr>
          <p:cNvPr id="21" name="Text 16"/>
          <p:cNvSpPr/>
          <p:nvPr/>
        </p:nvSpPr>
        <p:spPr>
          <a:xfrm>
            <a:off x="8321040" y="4937760"/>
            <a:ext cx="2743200" cy="1005840"/>
          </a:xfrm>
          <a:prstGeom prst="rect">
            <a:avLst/>
          </a:prstGeom>
          <a:noFill/>
          <a:ln/>
        </p:spPr>
        <p:txBody>
          <a:bodyPr wrap="square" lIns="0" tIns="0" rIns="0" bIns="0" rtlCol="0" anchor="ctr"/>
          <a:lstStyle/>
          <a:p>
            <a:pPr marL="0" indent="0">
              <a:lnSpc>
                <a:spcPts val="1800"/>
              </a:lnSpc>
              <a:buNone/>
            </a:pPr>
            <a:r>
              <a:rPr lang="en-US" sz="1300" dirty="0">
                <a:solidFill>
                  <a:srgbClr val="64748B"/>
                </a:solidFill>
                <a:latin typeface="Calibri" pitchFamily="34" charset="0"/>
                <a:ea typeface="Calibri" pitchFamily="34" charset="-122"/>
                <a:cs typeface="Calibri" pitchFamily="34" charset="-120"/>
              </a:rPr>
              <a:t>Cancellations hit the highest-rate channels hardest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188720" cy="411480"/>
          </a:xfrm>
          <a:prstGeom prst="roundRect">
            <a:avLst>
              <a:gd name="adj" fmla="val 17778"/>
            </a:avLst>
          </a:prstGeom>
          <a:solidFill>
            <a:srgbClr val="065A82"/>
          </a:solidFill>
          <a:ln/>
        </p:spPr>
        <p:txBody>
          <a:bodyPr/>
          <a:lstStyle/>
          <a:p>
            <a:endParaRPr lang="en-US"/>
          </a:p>
        </p:txBody>
      </p:sp>
      <p:sp>
        <p:nvSpPr>
          <p:cNvPr id="3" name="Text 1"/>
          <p:cNvSpPr/>
          <p:nvPr/>
        </p:nvSpPr>
        <p:spPr>
          <a:xfrm>
            <a:off x="640080" y="457200"/>
            <a:ext cx="1188720" cy="41148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INSIGHT 01</a:t>
            </a:r>
            <a:endParaRPr lang="en-US" sz="1200" dirty="0"/>
          </a:p>
        </p:txBody>
      </p:sp>
      <p:sp>
        <p:nvSpPr>
          <p:cNvPr id="4" name="Text 2"/>
          <p:cNvSpPr/>
          <p:nvPr/>
        </p:nvSpPr>
        <p:spPr>
          <a:xfrm>
            <a:off x="640080" y="960120"/>
            <a:ext cx="10789920" cy="73152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Pricing Isn't Adapting to Demand</a:t>
            </a:r>
            <a:endParaRPr lang="en-US" sz="2800" dirty="0"/>
          </a:p>
        </p:txBody>
      </p:sp>
      <p:sp>
        <p:nvSpPr>
          <p:cNvPr id="5" name="Text 3"/>
          <p:cNvSpPr/>
          <p:nvPr/>
        </p:nvSpPr>
        <p:spPr>
          <a:xfrm>
            <a:off x="640080" y="1920240"/>
            <a:ext cx="5120640" cy="914400"/>
          </a:xfrm>
          <a:prstGeom prst="rect">
            <a:avLst/>
          </a:prstGeom>
          <a:noFill/>
          <a:ln/>
        </p:spPr>
        <p:txBody>
          <a:bodyPr wrap="square" rtlCol="0" anchor="ctr"/>
          <a:lstStyle/>
          <a:p>
            <a:pPr marL="0" indent="0">
              <a:lnSpc>
                <a:spcPts val="2200"/>
              </a:lnSpc>
              <a:buNone/>
            </a:pPr>
            <a:r>
              <a:rPr lang="en-US" sz="1500" dirty="0">
                <a:solidFill>
                  <a:srgbClr val="1E293B"/>
                </a:solidFill>
                <a:latin typeface="Calibri" pitchFamily="34" charset="0"/>
                <a:ea typeface="Calibri" pitchFamily="34" charset="-122"/>
                <a:cs typeface="Calibri" pitchFamily="34" charset="-120"/>
              </a:rPr>
              <a:t>ADR stays remarkably flat — around </a:t>
            </a:r>
            <a:r>
              <a:rPr lang="en-US" sz="1500" b="1" dirty="0">
                <a:solidFill>
                  <a:srgbClr val="065A82"/>
                </a:solidFill>
                <a:latin typeface="Calibri" pitchFamily="34" charset="0"/>
                <a:ea typeface="Calibri" pitchFamily="34" charset="-122"/>
                <a:cs typeface="Calibri" pitchFamily="34" charset="-120"/>
              </a:rPr>
              <a:t>12K-13K</a:t>
            </a:r>
            <a:r>
              <a:rPr lang="en-US" sz="1500" dirty="0">
                <a:solidFill>
                  <a:srgbClr val="1E293B"/>
                </a:solidFill>
                <a:latin typeface="Calibri" pitchFamily="34" charset="0"/>
                <a:ea typeface="Calibri" pitchFamily="34" charset="-122"/>
                <a:cs typeface="Calibri" pitchFamily="34" charset="-120"/>
              </a:rPr>
              <a:t> — every single week, whether occupancy sits at </a:t>
            </a:r>
            <a:r>
              <a:rPr lang="en-US" sz="1500" b="1" dirty="0">
                <a:solidFill>
                  <a:srgbClr val="065A82"/>
                </a:solidFill>
                <a:latin typeface="Calibri" pitchFamily="34" charset="0"/>
                <a:ea typeface="Calibri" pitchFamily="34" charset="-122"/>
                <a:cs typeface="Calibri" pitchFamily="34" charset="-120"/>
              </a:rPr>
              <a:t>50% or 65%</a:t>
            </a:r>
            <a:r>
              <a:rPr lang="en-US" sz="1500" dirty="0">
                <a:solidFill>
                  <a:srgbClr val="1E293B"/>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640080" y="2834640"/>
            <a:ext cx="5120640" cy="1463040"/>
          </a:xfrm>
          <a:prstGeom prst="rect">
            <a:avLst/>
          </a:prstGeom>
          <a:noFill/>
          <a:ln/>
        </p:spPr>
        <p:txBody>
          <a:bodyPr wrap="square" rtlCol="0" anchor="ctr"/>
          <a:lstStyle/>
          <a:p>
            <a:pPr marL="0" indent="0">
              <a:lnSpc>
                <a:spcPts val="2000"/>
              </a:lnSpc>
              <a:buNone/>
            </a:pPr>
            <a:r>
              <a:rPr lang="en-US" sz="1300" dirty="0">
                <a:solidFill>
                  <a:srgbClr val="64748B"/>
                </a:solidFill>
                <a:latin typeface="Calibri" pitchFamily="34" charset="0"/>
                <a:ea typeface="Calibri" pitchFamily="34" charset="-122"/>
                <a:cs typeface="Calibri" pitchFamily="34" charset="-120"/>
              </a:rPr>
              <a:t>Since RevPAR = ADR × Occupancy, and ADR barely moves, RevPAR is driven almost entirely by occupancy — not by rate. High-demand weeks (W22, W24, W27-W29) and low-demand weeks (W21, W23, W26, W30-W31) are priced identically.</a:t>
            </a:r>
            <a:endParaRPr lang="en-US" sz="1300" dirty="0"/>
          </a:p>
        </p:txBody>
      </p:sp>
      <p:sp>
        <p:nvSpPr>
          <p:cNvPr id="7" name="Shape 5"/>
          <p:cNvSpPr/>
          <p:nvPr/>
        </p:nvSpPr>
        <p:spPr>
          <a:xfrm>
            <a:off x="640080" y="4572000"/>
            <a:ext cx="5120640" cy="1737360"/>
          </a:xfrm>
          <a:prstGeom prst="roundRect">
            <a:avLst>
              <a:gd name="adj" fmla="val 5263"/>
            </a:avLst>
          </a:prstGeom>
          <a:solidFill>
            <a:srgbClr val="21295C"/>
          </a:solidFill>
          <a:ln/>
          <a:effectLst>
            <a:outerShdw blurRad="76200" dist="25400" dir="27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4800600"/>
            <a:ext cx="384048" cy="384048"/>
          </a:xfrm>
          <a:prstGeom prst="rect">
            <a:avLst/>
          </a:prstGeom>
        </p:spPr>
      </p:pic>
      <p:sp>
        <p:nvSpPr>
          <p:cNvPr id="9" name="Text 6"/>
          <p:cNvSpPr/>
          <p:nvPr/>
        </p:nvSpPr>
        <p:spPr>
          <a:xfrm>
            <a:off x="1371600" y="4773168"/>
            <a:ext cx="4114800" cy="32004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BUSINESS SOLUTION</a:t>
            </a:r>
            <a:endParaRPr lang="en-US" sz="1200" dirty="0"/>
          </a:p>
        </p:txBody>
      </p:sp>
      <p:sp>
        <p:nvSpPr>
          <p:cNvPr id="10" name="Text 7"/>
          <p:cNvSpPr/>
          <p:nvPr/>
        </p:nvSpPr>
        <p:spPr>
          <a:xfrm>
            <a:off x="868680" y="5166360"/>
            <a:ext cx="4663440" cy="1051560"/>
          </a:xfrm>
          <a:prstGeom prst="rect">
            <a:avLst/>
          </a:prstGeom>
          <a:noFill/>
          <a:ln/>
        </p:spPr>
        <p:txBody>
          <a:bodyPr wrap="square"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Introduce demand-based pricing: small rate increases during historically high-occupancy weeks, and targeted promotions during low-occupancy weeks — using existing rooms to capture more value without new investment.</a:t>
            </a:r>
            <a:endParaRPr lang="en-US" sz="1250" dirty="0"/>
          </a:p>
        </p:txBody>
      </p:sp>
      <p:graphicFrame>
        <p:nvGraphicFramePr>
          <p:cNvPr id="11" name="Chart 0"/>
          <p:cNvGraphicFramePr/>
          <p:nvPr/>
        </p:nvGraphicFramePr>
        <p:xfrm>
          <a:off x="6126480" y="1828800"/>
          <a:ext cx="54864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
          <p:cNvGraphicFramePr/>
          <p:nvPr/>
        </p:nvGraphicFramePr>
        <p:xfrm>
          <a:off x="6126480" y="4572000"/>
          <a:ext cx="5486400" cy="192024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188720" cy="411480"/>
          </a:xfrm>
          <a:prstGeom prst="roundRect">
            <a:avLst>
              <a:gd name="adj" fmla="val 17778"/>
            </a:avLst>
          </a:prstGeom>
          <a:solidFill>
            <a:srgbClr val="065A82"/>
          </a:solidFill>
          <a:ln/>
        </p:spPr>
        <p:txBody>
          <a:bodyPr/>
          <a:lstStyle/>
          <a:p>
            <a:endParaRPr lang="en-US"/>
          </a:p>
        </p:txBody>
      </p:sp>
      <p:sp>
        <p:nvSpPr>
          <p:cNvPr id="3" name="Text 1"/>
          <p:cNvSpPr/>
          <p:nvPr/>
        </p:nvSpPr>
        <p:spPr>
          <a:xfrm>
            <a:off x="640080" y="457200"/>
            <a:ext cx="1188720" cy="41148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INSIGHT 02</a:t>
            </a:r>
            <a:endParaRPr lang="en-US" sz="1200" dirty="0"/>
          </a:p>
        </p:txBody>
      </p:sp>
      <p:sp>
        <p:nvSpPr>
          <p:cNvPr id="4" name="Text 2"/>
          <p:cNvSpPr/>
          <p:nvPr/>
        </p:nvSpPr>
        <p:spPr>
          <a:xfrm>
            <a:off x="640080" y="960120"/>
            <a:ext cx="10789920" cy="73152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Low Guest Ratings Are Quietly Capping Occupancy</a:t>
            </a:r>
            <a:endParaRPr lang="en-US" sz="2600" dirty="0"/>
          </a:p>
        </p:txBody>
      </p:sp>
      <p:sp>
        <p:nvSpPr>
          <p:cNvPr id="5" name="Text 3"/>
          <p:cNvSpPr/>
          <p:nvPr/>
        </p:nvSpPr>
        <p:spPr>
          <a:xfrm>
            <a:off x="640080" y="1920240"/>
            <a:ext cx="5120640" cy="1188720"/>
          </a:xfrm>
          <a:prstGeom prst="rect">
            <a:avLst/>
          </a:prstGeom>
          <a:noFill/>
          <a:ln/>
        </p:spPr>
        <p:txBody>
          <a:bodyPr wrap="square" rtlCol="0" anchor="ctr"/>
          <a:lstStyle/>
          <a:p>
            <a:pPr marL="0" indent="0">
              <a:lnSpc>
                <a:spcPts val="2200"/>
              </a:lnSpc>
              <a:buNone/>
            </a:pPr>
            <a:r>
              <a:rPr lang="en-US" sz="1500" b="1" dirty="0">
                <a:solidFill>
                  <a:srgbClr val="065A82"/>
                </a:solidFill>
                <a:latin typeface="Calibri" pitchFamily="34" charset="0"/>
                <a:ea typeface="Calibri" pitchFamily="34" charset="-122"/>
                <a:cs typeface="Calibri" pitchFamily="34" charset="-120"/>
              </a:rPr>
              <a:t>Atliq Grands Bangalore</a:t>
            </a:r>
            <a:r>
              <a:rPr lang="en-US" sz="1500" dirty="0">
                <a:solidFill>
                  <a:srgbClr val="1E293B"/>
                </a:solidFill>
                <a:latin typeface="Calibri" pitchFamily="34" charset="0"/>
                <a:ea typeface="Calibri" pitchFamily="34" charset="-122"/>
                <a:cs typeface="Calibri" pitchFamily="34" charset="-120"/>
              </a:rPr>
              <a:t> charges rates comparable to top-performing properties, but its </a:t>
            </a:r>
            <a:r>
              <a:rPr lang="en-US" sz="1500" b="1" dirty="0">
                <a:solidFill>
                  <a:srgbClr val="DE6A73"/>
                </a:solidFill>
                <a:latin typeface="Calibri" pitchFamily="34" charset="0"/>
                <a:ea typeface="Calibri" pitchFamily="34" charset="-122"/>
                <a:cs typeface="Calibri" pitchFamily="34" charset="-120"/>
              </a:rPr>
              <a:t>2.37 average rating</a:t>
            </a:r>
            <a:r>
              <a:rPr lang="en-US" sz="1500" dirty="0">
                <a:solidFill>
                  <a:srgbClr val="1E293B"/>
                </a:solidFill>
                <a:latin typeface="Calibri" pitchFamily="34" charset="0"/>
                <a:ea typeface="Calibri" pitchFamily="34" charset="-122"/>
                <a:cs typeface="Calibri" pitchFamily="34" charset="-120"/>
              </a:rPr>
              <a:t> leaves it stuck at just </a:t>
            </a:r>
            <a:r>
              <a:rPr lang="en-US" sz="1500" b="1" dirty="0">
                <a:solidFill>
                  <a:srgbClr val="DE6A73"/>
                </a:solidFill>
                <a:latin typeface="Calibri" pitchFamily="34" charset="0"/>
                <a:ea typeface="Calibri" pitchFamily="34" charset="-122"/>
                <a:cs typeface="Calibri" pitchFamily="34" charset="-120"/>
              </a:rPr>
              <a:t>44.33% occupancy</a:t>
            </a:r>
            <a:r>
              <a:rPr lang="en-US" sz="1500" dirty="0">
                <a:solidFill>
                  <a:srgbClr val="1E293B"/>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640080" y="3017520"/>
            <a:ext cx="5120640" cy="1554480"/>
          </a:xfrm>
          <a:prstGeom prst="rect">
            <a:avLst/>
          </a:prstGeom>
          <a:noFill/>
          <a:ln/>
        </p:spPr>
        <p:txBody>
          <a:bodyPr wrap="square" rtlCol="0" anchor="ctr"/>
          <a:lstStyle/>
          <a:p>
            <a:pPr marL="0" indent="0">
              <a:lnSpc>
                <a:spcPts val="2000"/>
              </a:lnSpc>
              <a:buNone/>
            </a:pPr>
            <a:r>
              <a:rPr lang="en-US" sz="1300" dirty="0">
                <a:solidFill>
                  <a:srgbClr val="64748B"/>
                </a:solidFill>
                <a:latin typeface="Calibri" pitchFamily="34" charset="0"/>
                <a:ea typeface="Calibri" pitchFamily="34" charset="-122"/>
                <a:cs typeface="Calibri" pitchFamily="34" charset="-120"/>
              </a:rPr>
              <a:t>Even the weekend bump (47.92% occupancy) compared to weekdays (42.89%) follows the normal pattern — but both numbers sit well below the portfolio average. Since pricing is competitive, the gap isn't a pricing problem. It's a guest experience problem: poor reviews are turning potential guests away before they even book.</a:t>
            </a:r>
            <a:endParaRPr lang="en-US" sz="1300" dirty="0"/>
          </a:p>
        </p:txBody>
      </p:sp>
      <p:sp>
        <p:nvSpPr>
          <p:cNvPr id="7" name="Shape 5"/>
          <p:cNvSpPr/>
          <p:nvPr/>
        </p:nvSpPr>
        <p:spPr>
          <a:xfrm>
            <a:off x="640080" y="4663440"/>
            <a:ext cx="5120640" cy="1645920"/>
          </a:xfrm>
          <a:prstGeom prst="roundRect">
            <a:avLst>
              <a:gd name="adj" fmla="val 5556"/>
            </a:avLst>
          </a:prstGeom>
          <a:solidFill>
            <a:srgbClr val="21295C"/>
          </a:solidFill>
          <a:ln/>
          <a:effectLst>
            <a:outerShdw blurRad="76200" dist="25400" dir="27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4864608"/>
            <a:ext cx="384048" cy="384048"/>
          </a:xfrm>
          <a:prstGeom prst="rect">
            <a:avLst/>
          </a:prstGeom>
        </p:spPr>
      </p:pic>
      <p:sp>
        <p:nvSpPr>
          <p:cNvPr id="9" name="Text 6"/>
          <p:cNvSpPr/>
          <p:nvPr/>
        </p:nvSpPr>
        <p:spPr>
          <a:xfrm>
            <a:off x="1371600" y="4837176"/>
            <a:ext cx="4114800" cy="32004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BUSINESS SOLUTION</a:t>
            </a:r>
            <a:endParaRPr lang="en-US" sz="1200" dirty="0"/>
          </a:p>
        </p:txBody>
      </p:sp>
      <p:sp>
        <p:nvSpPr>
          <p:cNvPr id="10" name="Text 7"/>
          <p:cNvSpPr/>
          <p:nvPr/>
        </p:nvSpPr>
        <p:spPr>
          <a:xfrm>
            <a:off x="868680" y="5212080"/>
            <a:ext cx="4663440" cy="1005840"/>
          </a:xfrm>
          <a:prstGeom prst="rect">
            <a:avLst/>
          </a:prstGeom>
          <a:noFill/>
          <a:ln/>
        </p:spPr>
        <p:txBody>
          <a:bodyPr wrap="square"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Prioritize service quality reviews for any property rated below 3.0. Improving the guest experience at these locations is likely to lift occupancy more effectively than any pricing change.</a:t>
            </a:r>
            <a:endParaRPr lang="en-US" sz="1250" dirty="0"/>
          </a:p>
        </p:txBody>
      </p:sp>
      <p:sp>
        <p:nvSpPr>
          <p:cNvPr id="11" name="Shape 8"/>
          <p:cNvSpPr/>
          <p:nvPr/>
        </p:nvSpPr>
        <p:spPr>
          <a:xfrm>
            <a:off x="6126480" y="1828800"/>
            <a:ext cx="5486400" cy="4480560"/>
          </a:xfrm>
          <a:prstGeom prst="roundRect">
            <a:avLst>
              <a:gd name="adj" fmla="val 2041"/>
            </a:avLst>
          </a:prstGeom>
          <a:solidFill>
            <a:srgbClr val="F4F8FA"/>
          </a:solidFill>
          <a:ln/>
          <a:effectLst>
            <a:outerShdw blurRad="76200" dist="25400" dir="2700000" algn="bl" rotWithShape="0">
              <a:srgbClr val="000000">
                <a:alpha val="12000"/>
              </a:srgbClr>
            </a:outerShdw>
          </a:effectLst>
        </p:spPr>
        <p:txBody>
          <a:bodyPr/>
          <a:lstStyle/>
          <a:p>
            <a:endParaRPr lang="en-US"/>
          </a:p>
        </p:txBody>
      </p:sp>
      <p:sp>
        <p:nvSpPr>
          <p:cNvPr id="12" name="Text 9"/>
          <p:cNvSpPr/>
          <p:nvPr/>
        </p:nvSpPr>
        <p:spPr>
          <a:xfrm>
            <a:off x="6400800" y="2057400"/>
            <a:ext cx="4937760" cy="365760"/>
          </a:xfrm>
          <a:prstGeom prst="rect">
            <a:avLst/>
          </a:prstGeom>
          <a:noFill/>
          <a:ln/>
        </p:spPr>
        <p:txBody>
          <a:bodyPr wrap="square"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Rating vs. Occupancy — Selected Properties</a:t>
            </a:r>
            <a:endParaRPr lang="en-US" sz="1300" dirty="0"/>
          </a:p>
        </p:txBody>
      </p:sp>
      <p:sp>
        <p:nvSpPr>
          <p:cNvPr id="13" name="Text 10"/>
          <p:cNvSpPr/>
          <p:nvPr/>
        </p:nvSpPr>
        <p:spPr>
          <a:xfrm>
            <a:off x="6400800" y="2606040"/>
            <a:ext cx="2194560" cy="3657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Atliq Grands, Bangalore</a:t>
            </a:r>
            <a:endParaRPr lang="en-US" sz="1150" dirty="0"/>
          </a:p>
        </p:txBody>
      </p:sp>
      <p:sp>
        <p:nvSpPr>
          <p:cNvPr id="14" name="Shape 11"/>
          <p:cNvSpPr/>
          <p:nvPr/>
        </p:nvSpPr>
        <p:spPr>
          <a:xfrm>
            <a:off x="8686800" y="2660904"/>
            <a:ext cx="1463040" cy="109728"/>
          </a:xfrm>
          <a:prstGeom prst="rect">
            <a:avLst/>
          </a:prstGeom>
          <a:solidFill>
            <a:srgbClr val="E2E8F0"/>
          </a:solidFill>
          <a:ln/>
        </p:spPr>
        <p:txBody>
          <a:bodyPr/>
          <a:lstStyle/>
          <a:p>
            <a:endParaRPr lang="en-US"/>
          </a:p>
        </p:txBody>
      </p:sp>
      <p:sp>
        <p:nvSpPr>
          <p:cNvPr id="15" name="Shape 12"/>
          <p:cNvSpPr/>
          <p:nvPr/>
        </p:nvSpPr>
        <p:spPr>
          <a:xfrm>
            <a:off x="8686800" y="2660904"/>
            <a:ext cx="693481" cy="109728"/>
          </a:xfrm>
          <a:prstGeom prst="rect">
            <a:avLst/>
          </a:prstGeom>
          <a:solidFill>
            <a:srgbClr val="DE6A73"/>
          </a:solidFill>
          <a:ln/>
        </p:spPr>
        <p:txBody>
          <a:bodyPr/>
          <a:lstStyle/>
          <a:p>
            <a:endParaRPr lang="en-US"/>
          </a:p>
        </p:txBody>
      </p:sp>
      <p:sp>
        <p:nvSpPr>
          <p:cNvPr id="16" name="Text 13"/>
          <p:cNvSpPr/>
          <p:nvPr/>
        </p:nvSpPr>
        <p:spPr>
          <a:xfrm>
            <a:off x="10195560" y="2587752"/>
            <a:ext cx="640080" cy="274320"/>
          </a:xfrm>
          <a:prstGeom prst="rect">
            <a:avLst/>
          </a:prstGeom>
          <a:noFill/>
          <a:ln/>
        </p:spPr>
        <p:txBody>
          <a:bodyPr wrap="square" lIns="0" tIns="0" rIns="0" bIns="0" rtlCol="0" anchor="ctr"/>
          <a:lstStyle/>
          <a:p>
            <a:pPr marL="0" indent="0">
              <a:buNone/>
            </a:pPr>
            <a:r>
              <a:rPr lang="en-US" sz="1100" b="1" dirty="0">
                <a:solidFill>
                  <a:srgbClr val="DE6A73"/>
                </a:solidFill>
                <a:latin typeface="Calibri" pitchFamily="34" charset="0"/>
                <a:ea typeface="Calibri" pitchFamily="34" charset="-122"/>
                <a:cs typeface="Calibri" pitchFamily="34" charset="-120"/>
              </a:rPr>
              <a:t>2.37★</a:t>
            </a:r>
            <a:endParaRPr lang="en-US" sz="1100" dirty="0"/>
          </a:p>
        </p:txBody>
      </p:sp>
      <p:sp>
        <p:nvSpPr>
          <p:cNvPr id="17" name="Text 14"/>
          <p:cNvSpPr/>
          <p:nvPr/>
        </p:nvSpPr>
        <p:spPr>
          <a:xfrm>
            <a:off x="10835640" y="2587752"/>
            <a:ext cx="7772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44.3%</a:t>
            </a:r>
            <a:endParaRPr lang="en-US" sz="1100" dirty="0"/>
          </a:p>
        </p:txBody>
      </p:sp>
      <p:sp>
        <p:nvSpPr>
          <p:cNvPr id="18" name="Text 15"/>
          <p:cNvSpPr/>
          <p:nvPr/>
        </p:nvSpPr>
        <p:spPr>
          <a:xfrm>
            <a:off x="6400800" y="3246120"/>
            <a:ext cx="2194560" cy="3657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Atliq Bay, Mumbai</a:t>
            </a:r>
            <a:endParaRPr lang="en-US" sz="1150" dirty="0"/>
          </a:p>
        </p:txBody>
      </p:sp>
      <p:sp>
        <p:nvSpPr>
          <p:cNvPr id="19" name="Shape 16"/>
          <p:cNvSpPr/>
          <p:nvPr/>
        </p:nvSpPr>
        <p:spPr>
          <a:xfrm>
            <a:off x="8686800" y="3300984"/>
            <a:ext cx="1463040" cy="109728"/>
          </a:xfrm>
          <a:prstGeom prst="rect">
            <a:avLst/>
          </a:prstGeom>
          <a:solidFill>
            <a:srgbClr val="E2E8F0"/>
          </a:solidFill>
          <a:ln/>
        </p:spPr>
        <p:txBody>
          <a:bodyPr/>
          <a:lstStyle/>
          <a:p>
            <a:endParaRPr lang="en-US"/>
          </a:p>
        </p:txBody>
      </p:sp>
      <p:sp>
        <p:nvSpPr>
          <p:cNvPr id="20" name="Shape 17"/>
          <p:cNvSpPr/>
          <p:nvPr/>
        </p:nvSpPr>
        <p:spPr>
          <a:xfrm>
            <a:off x="8686800" y="3300984"/>
            <a:ext cx="693481" cy="109728"/>
          </a:xfrm>
          <a:prstGeom prst="rect">
            <a:avLst/>
          </a:prstGeom>
          <a:solidFill>
            <a:srgbClr val="DE6A73"/>
          </a:solidFill>
          <a:ln/>
        </p:spPr>
        <p:txBody>
          <a:bodyPr/>
          <a:lstStyle/>
          <a:p>
            <a:endParaRPr lang="en-US"/>
          </a:p>
        </p:txBody>
      </p:sp>
      <p:sp>
        <p:nvSpPr>
          <p:cNvPr id="21" name="Text 18"/>
          <p:cNvSpPr/>
          <p:nvPr/>
        </p:nvSpPr>
        <p:spPr>
          <a:xfrm>
            <a:off x="10195560" y="3227832"/>
            <a:ext cx="640080" cy="274320"/>
          </a:xfrm>
          <a:prstGeom prst="rect">
            <a:avLst/>
          </a:prstGeom>
          <a:noFill/>
          <a:ln/>
        </p:spPr>
        <p:txBody>
          <a:bodyPr wrap="square" lIns="0" tIns="0" rIns="0" bIns="0" rtlCol="0" anchor="ctr"/>
          <a:lstStyle/>
          <a:p>
            <a:pPr marL="0" indent="0">
              <a:buNone/>
            </a:pPr>
            <a:r>
              <a:rPr lang="en-US" sz="1100" b="1" dirty="0">
                <a:solidFill>
                  <a:srgbClr val="DE6A73"/>
                </a:solidFill>
                <a:latin typeface="Calibri" pitchFamily="34" charset="0"/>
                <a:ea typeface="Calibri" pitchFamily="34" charset="-122"/>
                <a:cs typeface="Calibri" pitchFamily="34" charset="-120"/>
              </a:rPr>
              <a:t>2.37★</a:t>
            </a:r>
            <a:endParaRPr lang="en-US" sz="1100" dirty="0"/>
          </a:p>
        </p:txBody>
      </p:sp>
      <p:sp>
        <p:nvSpPr>
          <p:cNvPr id="22" name="Text 19"/>
          <p:cNvSpPr/>
          <p:nvPr/>
        </p:nvSpPr>
        <p:spPr>
          <a:xfrm>
            <a:off x="10835640" y="3227832"/>
            <a:ext cx="7772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44.9%</a:t>
            </a:r>
            <a:endParaRPr lang="en-US" sz="1100" dirty="0"/>
          </a:p>
        </p:txBody>
      </p:sp>
      <p:sp>
        <p:nvSpPr>
          <p:cNvPr id="23" name="Text 20"/>
          <p:cNvSpPr/>
          <p:nvPr/>
        </p:nvSpPr>
        <p:spPr>
          <a:xfrm>
            <a:off x="6400800" y="3886200"/>
            <a:ext cx="2194560" cy="3657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Atliq Palace, Hyderabad</a:t>
            </a:r>
            <a:endParaRPr lang="en-US" sz="1150" dirty="0"/>
          </a:p>
        </p:txBody>
      </p:sp>
      <p:sp>
        <p:nvSpPr>
          <p:cNvPr id="24" name="Shape 21"/>
          <p:cNvSpPr/>
          <p:nvPr/>
        </p:nvSpPr>
        <p:spPr>
          <a:xfrm>
            <a:off x="8686800" y="3941064"/>
            <a:ext cx="1463040" cy="109728"/>
          </a:xfrm>
          <a:prstGeom prst="rect">
            <a:avLst/>
          </a:prstGeom>
          <a:solidFill>
            <a:srgbClr val="E2E8F0"/>
          </a:solidFill>
          <a:ln/>
        </p:spPr>
        <p:txBody>
          <a:bodyPr/>
          <a:lstStyle/>
          <a:p>
            <a:endParaRPr lang="en-US"/>
          </a:p>
        </p:txBody>
      </p:sp>
      <p:sp>
        <p:nvSpPr>
          <p:cNvPr id="25" name="Shape 22"/>
          <p:cNvSpPr/>
          <p:nvPr/>
        </p:nvSpPr>
        <p:spPr>
          <a:xfrm>
            <a:off x="8686800" y="3941064"/>
            <a:ext cx="898307" cy="109728"/>
          </a:xfrm>
          <a:prstGeom prst="rect">
            <a:avLst/>
          </a:prstGeom>
          <a:solidFill>
            <a:srgbClr val="DE6A73"/>
          </a:solidFill>
          <a:ln/>
        </p:spPr>
        <p:txBody>
          <a:bodyPr/>
          <a:lstStyle/>
          <a:p>
            <a:endParaRPr lang="en-US"/>
          </a:p>
        </p:txBody>
      </p:sp>
      <p:sp>
        <p:nvSpPr>
          <p:cNvPr id="26" name="Text 23"/>
          <p:cNvSpPr/>
          <p:nvPr/>
        </p:nvSpPr>
        <p:spPr>
          <a:xfrm>
            <a:off x="10195560" y="3867912"/>
            <a:ext cx="640080" cy="274320"/>
          </a:xfrm>
          <a:prstGeom prst="rect">
            <a:avLst/>
          </a:prstGeom>
          <a:noFill/>
          <a:ln/>
        </p:spPr>
        <p:txBody>
          <a:bodyPr wrap="square" lIns="0" tIns="0" rIns="0" bIns="0" rtlCol="0" anchor="ctr"/>
          <a:lstStyle/>
          <a:p>
            <a:pPr marL="0" indent="0">
              <a:buNone/>
            </a:pPr>
            <a:r>
              <a:rPr lang="en-US" sz="1100" b="1" dirty="0">
                <a:solidFill>
                  <a:srgbClr val="DE6A73"/>
                </a:solidFill>
                <a:latin typeface="Calibri" pitchFamily="34" charset="0"/>
                <a:ea typeface="Calibri" pitchFamily="34" charset="-122"/>
                <a:cs typeface="Calibri" pitchFamily="34" charset="-120"/>
              </a:rPr>
              <a:t>3.07★</a:t>
            </a:r>
            <a:endParaRPr lang="en-US" sz="1100" dirty="0"/>
          </a:p>
        </p:txBody>
      </p:sp>
      <p:sp>
        <p:nvSpPr>
          <p:cNvPr id="27" name="Text 24"/>
          <p:cNvSpPr/>
          <p:nvPr/>
        </p:nvSpPr>
        <p:spPr>
          <a:xfrm>
            <a:off x="10835640" y="3867912"/>
            <a:ext cx="7772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52.9%</a:t>
            </a:r>
            <a:endParaRPr lang="en-US" sz="1100" dirty="0"/>
          </a:p>
        </p:txBody>
      </p:sp>
      <p:sp>
        <p:nvSpPr>
          <p:cNvPr id="28" name="Text 25"/>
          <p:cNvSpPr/>
          <p:nvPr/>
        </p:nvSpPr>
        <p:spPr>
          <a:xfrm>
            <a:off x="6400800" y="4526280"/>
            <a:ext cx="2194560" cy="3657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Atliq City, Bangalore</a:t>
            </a:r>
            <a:endParaRPr lang="en-US" sz="1150" dirty="0"/>
          </a:p>
        </p:txBody>
      </p:sp>
      <p:sp>
        <p:nvSpPr>
          <p:cNvPr id="29" name="Shape 26"/>
          <p:cNvSpPr/>
          <p:nvPr/>
        </p:nvSpPr>
        <p:spPr>
          <a:xfrm>
            <a:off x="8686800" y="4581144"/>
            <a:ext cx="1463040" cy="109728"/>
          </a:xfrm>
          <a:prstGeom prst="rect">
            <a:avLst/>
          </a:prstGeom>
          <a:solidFill>
            <a:srgbClr val="E2E8F0"/>
          </a:solidFill>
          <a:ln/>
        </p:spPr>
        <p:txBody>
          <a:bodyPr/>
          <a:lstStyle/>
          <a:p>
            <a:endParaRPr lang="en-US"/>
          </a:p>
        </p:txBody>
      </p:sp>
      <p:sp>
        <p:nvSpPr>
          <p:cNvPr id="30" name="Shape 27"/>
          <p:cNvSpPr/>
          <p:nvPr/>
        </p:nvSpPr>
        <p:spPr>
          <a:xfrm>
            <a:off x="8686800" y="4581144"/>
            <a:ext cx="1252362" cy="109728"/>
          </a:xfrm>
          <a:prstGeom prst="rect">
            <a:avLst/>
          </a:prstGeom>
          <a:solidFill>
            <a:srgbClr val="1C7293"/>
          </a:solidFill>
          <a:ln/>
        </p:spPr>
        <p:txBody>
          <a:bodyPr/>
          <a:lstStyle/>
          <a:p>
            <a:endParaRPr lang="en-US"/>
          </a:p>
        </p:txBody>
      </p:sp>
      <p:sp>
        <p:nvSpPr>
          <p:cNvPr id="31" name="Text 28"/>
          <p:cNvSpPr/>
          <p:nvPr/>
        </p:nvSpPr>
        <p:spPr>
          <a:xfrm>
            <a:off x="10195560" y="4507992"/>
            <a:ext cx="64008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4.28★</a:t>
            </a:r>
            <a:endParaRPr lang="en-US" sz="1100" dirty="0"/>
          </a:p>
        </p:txBody>
      </p:sp>
      <p:sp>
        <p:nvSpPr>
          <p:cNvPr id="32" name="Text 29"/>
          <p:cNvSpPr/>
          <p:nvPr/>
        </p:nvSpPr>
        <p:spPr>
          <a:xfrm>
            <a:off x="10835640" y="4507992"/>
            <a:ext cx="7772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65.5%</a:t>
            </a:r>
            <a:endParaRPr lang="en-US" sz="1100" dirty="0"/>
          </a:p>
        </p:txBody>
      </p:sp>
      <p:sp>
        <p:nvSpPr>
          <p:cNvPr id="33" name="Text 30"/>
          <p:cNvSpPr/>
          <p:nvPr/>
        </p:nvSpPr>
        <p:spPr>
          <a:xfrm>
            <a:off x="6400800" y="5166360"/>
            <a:ext cx="2194560" cy="3657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Atliq Blu, Hyderabad</a:t>
            </a:r>
            <a:endParaRPr lang="en-US" sz="1150" dirty="0"/>
          </a:p>
        </p:txBody>
      </p:sp>
      <p:sp>
        <p:nvSpPr>
          <p:cNvPr id="34" name="Shape 31"/>
          <p:cNvSpPr/>
          <p:nvPr/>
        </p:nvSpPr>
        <p:spPr>
          <a:xfrm>
            <a:off x="8686800" y="5221224"/>
            <a:ext cx="1463040" cy="109728"/>
          </a:xfrm>
          <a:prstGeom prst="rect">
            <a:avLst/>
          </a:prstGeom>
          <a:solidFill>
            <a:srgbClr val="E2E8F0"/>
          </a:solidFill>
          <a:ln/>
        </p:spPr>
        <p:txBody>
          <a:bodyPr/>
          <a:lstStyle/>
          <a:p>
            <a:endParaRPr lang="en-US"/>
          </a:p>
        </p:txBody>
      </p:sp>
      <p:sp>
        <p:nvSpPr>
          <p:cNvPr id="35" name="Shape 32"/>
          <p:cNvSpPr/>
          <p:nvPr/>
        </p:nvSpPr>
        <p:spPr>
          <a:xfrm>
            <a:off x="8686800" y="5221224"/>
            <a:ext cx="1243584" cy="109728"/>
          </a:xfrm>
          <a:prstGeom prst="rect">
            <a:avLst/>
          </a:prstGeom>
          <a:solidFill>
            <a:srgbClr val="1C7293"/>
          </a:solidFill>
          <a:ln/>
        </p:spPr>
        <p:txBody>
          <a:bodyPr/>
          <a:lstStyle/>
          <a:p>
            <a:endParaRPr lang="en-US"/>
          </a:p>
        </p:txBody>
      </p:sp>
      <p:sp>
        <p:nvSpPr>
          <p:cNvPr id="36" name="Text 33"/>
          <p:cNvSpPr/>
          <p:nvPr/>
        </p:nvSpPr>
        <p:spPr>
          <a:xfrm>
            <a:off x="10195560" y="5148072"/>
            <a:ext cx="640080"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4.25★</a:t>
            </a:r>
            <a:endParaRPr lang="en-US" sz="1100" dirty="0"/>
          </a:p>
        </p:txBody>
      </p:sp>
      <p:sp>
        <p:nvSpPr>
          <p:cNvPr id="37" name="Text 34"/>
          <p:cNvSpPr/>
          <p:nvPr/>
        </p:nvSpPr>
        <p:spPr>
          <a:xfrm>
            <a:off x="10835640" y="5148072"/>
            <a:ext cx="7772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65.5%</a:t>
            </a:r>
            <a:endParaRPr lang="en-US" sz="1100" dirty="0"/>
          </a:p>
        </p:txBody>
      </p:sp>
      <p:sp>
        <p:nvSpPr>
          <p:cNvPr id="38" name="Text 35"/>
          <p:cNvSpPr/>
          <p:nvPr/>
        </p:nvSpPr>
        <p:spPr>
          <a:xfrm>
            <a:off x="6400800" y="5897880"/>
            <a:ext cx="4937760" cy="3200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Bar = average guest rating (out of 5)   |   % = overall occupancy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188720" cy="411480"/>
          </a:xfrm>
          <a:prstGeom prst="roundRect">
            <a:avLst>
              <a:gd name="adj" fmla="val 17778"/>
            </a:avLst>
          </a:prstGeom>
          <a:solidFill>
            <a:srgbClr val="065A82"/>
          </a:solidFill>
          <a:ln/>
        </p:spPr>
        <p:txBody>
          <a:bodyPr/>
          <a:lstStyle/>
          <a:p>
            <a:endParaRPr lang="en-US"/>
          </a:p>
        </p:txBody>
      </p:sp>
      <p:sp>
        <p:nvSpPr>
          <p:cNvPr id="3" name="Text 1"/>
          <p:cNvSpPr/>
          <p:nvPr/>
        </p:nvSpPr>
        <p:spPr>
          <a:xfrm>
            <a:off x="640080" y="457200"/>
            <a:ext cx="1188720" cy="41148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INSIGHT 03</a:t>
            </a:r>
            <a:endParaRPr lang="en-US" sz="1200" dirty="0"/>
          </a:p>
        </p:txBody>
      </p:sp>
      <p:sp>
        <p:nvSpPr>
          <p:cNvPr id="4" name="Text 2"/>
          <p:cNvSpPr/>
          <p:nvPr/>
        </p:nvSpPr>
        <p:spPr>
          <a:xfrm>
            <a:off x="640080" y="960120"/>
            <a:ext cx="10789920" cy="731520"/>
          </a:xfrm>
          <a:prstGeom prst="rect">
            <a:avLst/>
          </a:prstGeom>
          <a:noFill/>
          <a:ln/>
        </p:spPr>
        <p:txBody>
          <a:bodyPr wrap="square"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The Highest-Value Bookings Are Slipping Away</a:t>
            </a:r>
            <a:endParaRPr lang="en-US" sz="2700" dirty="0"/>
          </a:p>
        </p:txBody>
      </p:sp>
      <p:sp>
        <p:nvSpPr>
          <p:cNvPr id="5" name="Text 3"/>
          <p:cNvSpPr/>
          <p:nvPr/>
        </p:nvSpPr>
        <p:spPr>
          <a:xfrm>
            <a:off x="640080" y="1920240"/>
            <a:ext cx="5120640" cy="1188720"/>
          </a:xfrm>
          <a:prstGeom prst="rect">
            <a:avLst/>
          </a:prstGeom>
          <a:noFill/>
          <a:ln/>
        </p:spPr>
        <p:txBody>
          <a:bodyPr wrap="square" rtlCol="0" anchor="ctr"/>
          <a:lstStyle/>
          <a:p>
            <a:pPr marL="0" indent="0">
              <a:lnSpc>
                <a:spcPts val="2200"/>
              </a:lnSpc>
              <a:buNone/>
            </a:pPr>
            <a:r>
              <a:rPr lang="en-US" sz="1500" b="1" dirty="0">
                <a:solidFill>
                  <a:srgbClr val="065A82"/>
                </a:solidFill>
                <a:latin typeface="Calibri" pitchFamily="34" charset="0"/>
                <a:ea typeface="Calibri" pitchFamily="34" charset="-122"/>
                <a:cs typeface="Calibri" pitchFamily="34" charset="-120"/>
              </a:rPr>
              <a:t>Tripster</a:t>
            </a:r>
            <a:r>
              <a:rPr lang="en-US" sz="1500" dirty="0">
                <a:solidFill>
                  <a:srgbClr val="1E293B"/>
                </a:solidFill>
                <a:latin typeface="Calibri" pitchFamily="34" charset="0"/>
                <a:ea typeface="Calibri" pitchFamily="34" charset="-122"/>
                <a:cs typeface="Calibri" pitchFamily="34" charset="-120"/>
              </a:rPr>
              <a:t> bookings carry the highest average rate (</a:t>
            </a:r>
            <a:r>
              <a:rPr lang="en-US" sz="1500" b="1" dirty="0">
                <a:solidFill>
                  <a:srgbClr val="065A82"/>
                </a:solidFill>
                <a:latin typeface="Calibri" pitchFamily="34" charset="0"/>
                <a:ea typeface="Calibri" pitchFamily="34" charset="-122"/>
                <a:cs typeface="Calibri" pitchFamily="34" charset="-120"/>
              </a:rPr>
              <a:t>ADR 12,778</a:t>
            </a:r>
            <a:r>
              <a:rPr lang="en-US" sz="1500" dirty="0">
                <a:solidFill>
                  <a:srgbClr val="1E293B"/>
                </a:solidFill>
                <a:latin typeface="Calibri" pitchFamily="34" charset="0"/>
                <a:ea typeface="Calibri" pitchFamily="34" charset="-122"/>
                <a:cs typeface="Calibri" pitchFamily="34" charset="-120"/>
              </a:rPr>
              <a:t>) but the </a:t>
            </a:r>
            <a:r>
              <a:rPr lang="en-US" sz="1500" b="1" dirty="0">
                <a:solidFill>
                  <a:srgbClr val="DE6A73"/>
                </a:solidFill>
                <a:latin typeface="Calibri" pitchFamily="34" charset="0"/>
                <a:ea typeface="Calibri" pitchFamily="34" charset="-122"/>
                <a:cs typeface="Calibri" pitchFamily="34" charset="-120"/>
              </a:rPr>
              <a:t>lowest realization rate (69.8%)</a:t>
            </a:r>
            <a:r>
              <a:rPr lang="en-US" sz="1500" dirty="0">
                <a:solidFill>
                  <a:srgbClr val="1E293B"/>
                </a:solidFill>
                <a:latin typeface="Calibri" pitchFamily="34" charset="0"/>
                <a:ea typeface="Calibri" pitchFamily="34" charset="-122"/>
                <a:cs typeface="Calibri" pitchFamily="34" charset="-120"/>
              </a:rPr>
              <a:t> of any channel.</a:t>
            </a:r>
            <a:endParaRPr lang="en-US" sz="1500" dirty="0"/>
          </a:p>
        </p:txBody>
      </p:sp>
      <p:sp>
        <p:nvSpPr>
          <p:cNvPr id="6" name="Text 4"/>
          <p:cNvSpPr/>
          <p:nvPr/>
        </p:nvSpPr>
        <p:spPr>
          <a:xfrm>
            <a:off x="640080" y="3017520"/>
            <a:ext cx="5120640" cy="1554480"/>
          </a:xfrm>
          <a:prstGeom prst="rect">
            <a:avLst/>
          </a:prstGeom>
          <a:noFill/>
          <a:ln/>
        </p:spPr>
        <p:txBody>
          <a:bodyPr wrap="square" rtlCol="0" anchor="ctr"/>
          <a:lstStyle/>
          <a:p>
            <a:pPr marL="0" indent="0">
              <a:lnSpc>
                <a:spcPts val="2000"/>
              </a:lnSpc>
              <a:buNone/>
            </a:pPr>
            <a:r>
              <a:rPr lang="en-US" sz="1300" dirty="0">
                <a:solidFill>
                  <a:srgbClr val="64748B"/>
                </a:solidFill>
                <a:latin typeface="Calibri" pitchFamily="34" charset="0"/>
                <a:ea typeface="Calibri" pitchFamily="34" charset="-122"/>
                <a:cs typeface="Calibri" pitchFamily="34" charset="-120"/>
              </a:rPr>
              <a:t>Realization rate = 1 - (Cancellation % + No-show %). A lower realization rate means more of that channel's bookings are cancelled or never arrive. Since Tripster's bookings are also the most expensive, every cancellation here represents the biggest possible revenue loss per booking.</a:t>
            </a:r>
            <a:endParaRPr lang="en-US" sz="1300" dirty="0"/>
          </a:p>
        </p:txBody>
      </p:sp>
      <p:sp>
        <p:nvSpPr>
          <p:cNvPr id="7" name="Shape 5"/>
          <p:cNvSpPr/>
          <p:nvPr/>
        </p:nvSpPr>
        <p:spPr>
          <a:xfrm>
            <a:off x="640080" y="4663440"/>
            <a:ext cx="5120640" cy="1645920"/>
          </a:xfrm>
          <a:prstGeom prst="roundRect">
            <a:avLst>
              <a:gd name="adj" fmla="val 5556"/>
            </a:avLst>
          </a:prstGeom>
          <a:solidFill>
            <a:srgbClr val="21295C"/>
          </a:solidFill>
          <a:ln/>
          <a:effectLst>
            <a:outerShdw blurRad="76200" dist="25400" dir="27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4864608"/>
            <a:ext cx="384048" cy="384048"/>
          </a:xfrm>
          <a:prstGeom prst="rect">
            <a:avLst/>
          </a:prstGeom>
        </p:spPr>
      </p:pic>
      <p:sp>
        <p:nvSpPr>
          <p:cNvPr id="9" name="Text 6"/>
          <p:cNvSpPr/>
          <p:nvPr/>
        </p:nvSpPr>
        <p:spPr>
          <a:xfrm>
            <a:off x="1371600" y="4837176"/>
            <a:ext cx="4114800" cy="32004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BUSINESS SOLUTION</a:t>
            </a:r>
            <a:endParaRPr lang="en-US" sz="1200" dirty="0"/>
          </a:p>
        </p:txBody>
      </p:sp>
      <p:sp>
        <p:nvSpPr>
          <p:cNvPr id="10" name="Text 7"/>
          <p:cNvSpPr/>
          <p:nvPr/>
        </p:nvSpPr>
        <p:spPr>
          <a:xfrm>
            <a:off x="868680" y="5212080"/>
            <a:ext cx="4663440" cy="1005840"/>
          </a:xfrm>
          <a:prstGeom prst="rect">
            <a:avLst/>
          </a:prstGeom>
          <a:noFill/>
          <a:ln/>
        </p:spPr>
        <p:txBody>
          <a:bodyPr wrap="square"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Introduce stricter cancellation policies (e.g. deposits) for Tripster bookings specifically. Because these are the highest-value bookings, even a small improvement in realization here recovers more revenue than the same gain on lower-ADR channels.</a:t>
            </a:r>
            <a:endParaRPr lang="en-US" sz="1250" dirty="0"/>
          </a:p>
        </p:txBody>
      </p:sp>
      <p:graphicFrame>
        <p:nvGraphicFramePr>
          <p:cNvPr id="11" name="Chart 0"/>
          <p:cNvGraphicFramePr/>
          <p:nvPr/>
        </p:nvGraphicFramePr>
        <p:xfrm>
          <a:off x="6126480" y="1828800"/>
          <a:ext cx="5486400" cy="2651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
          <p:cNvGraphicFramePr/>
          <p:nvPr/>
        </p:nvGraphicFramePr>
        <p:xfrm>
          <a:off x="6126480" y="4572000"/>
          <a:ext cx="5486400" cy="192024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65A82">
              <a:alpha val="25000"/>
            </a:srgbClr>
          </a:solidFill>
          <a:ln/>
        </p:spPr>
        <p:txBody>
          <a:bodyPr/>
          <a:lstStyle/>
          <a:p>
            <a:endParaRPr lang="en-US"/>
          </a:p>
        </p:txBody>
      </p:sp>
      <p:sp>
        <p:nvSpPr>
          <p:cNvPr id="3" name="Text 1"/>
          <p:cNvSpPr/>
          <p:nvPr/>
        </p:nvSpPr>
        <p:spPr>
          <a:xfrm>
            <a:off x="640080" y="502920"/>
            <a:ext cx="1078992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rPr>
              <a:t>Key Takeaways and project Learnings</a:t>
            </a:r>
            <a:endParaRPr lang="en-US" sz="3000" dirty="0"/>
          </a:p>
        </p:txBody>
      </p:sp>
      <p:sp>
        <p:nvSpPr>
          <p:cNvPr id="5" name="Shape 3"/>
          <p:cNvSpPr/>
          <p:nvPr/>
        </p:nvSpPr>
        <p:spPr>
          <a:xfrm>
            <a:off x="640080" y="1440180"/>
            <a:ext cx="10398034" cy="4160520"/>
          </a:xfrm>
          <a:prstGeom prst="roundRect">
            <a:avLst>
              <a:gd name="adj" fmla="val 3333"/>
            </a:avLst>
          </a:prstGeom>
          <a:solidFill>
            <a:srgbClr val="065A82">
              <a:alpha val="70000"/>
            </a:srgbClr>
          </a:solidFill>
          <a:ln/>
        </p:spPr>
        <p:txBody>
          <a:bodyPr/>
          <a:lstStyle/>
          <a:p>
            <a:r>
              <a:rPr lang="en-US" sz="2400" dirty="0">
                <a:solidFill>
                  <a:schemeClr val="bg1"/>
                </a:solidFill>
              </a:rPr>
              <a:t>None of these insights came from a single metric. They showed up when I compared two metrics at a time, and each one pointed toward a low-cost, high-impact fix. The skill isn’t about doing more; it’s about finding the right combination that points straight to a better decision.</a:t>
            </a:r>
          </a:p>
        </p:txBody>
      </p:sp>
      <p:sp>
        <p:nvSpPr>
          <p:cNvPr id="9" name="Text 6"/>
          <p:cNvSpPr/>
          <p:nvPr/>
        </p:nvSpPr>
        <p:spPr>
          <a:xfrm>
            <a:off x="914400" y="4297680"/>
            <a:ext cx="2743200" cy="1005840"/>
          </a:xfrm>
          <a:prstGeom prst="rect">
            <a:avLst/>
          </a:prstGeom>
          <a:noFill/>
          <a:ln/>
        </p:spPr>
        <p:txBody>
          <a:bodyPr wrap="square" lIns="0" tIns="0" rIns="0" bIns="0" rtlCol="0" anchor="ctr"/>
          <a:lstStyle/>
          <a:p>
            <a:pPr marL="0" indent="0">
              <a:lnSpc>
                <a:spcPts val="1800"/>
              </a:lnSpc>
              <a:buNone/>
            </a:pPr>
            <a:endParaRPr lang="en-US" sz="1250" dirty="0"/>
          </a:p>
        </p:txBody>
      </p:sp>
      <p:pic>
        <p:nvPicPr>
          <p:cNvPr id="12" name="Image 1" descr="preencoded.png"/>
          <p:cNvPicPr>
            <a:picLocks noChangeAspect="1"/>
          </p:cNvPicPr>
          <p:nvPr/>
        </p:nvPicPr>
        <p:blipFill>
          <a:blip r:embed="rId3"/>
          <a:stretch>
            <a:fillRect/>
          </a:stretch>
        </p:blipFill>
        <p:spPr>
          <a:xfrm>
            <a:off x="4800600" y="2697480"/>
            <a:ext cx="365760" cy="365760"/>
          </a:xfrm>
          <a:prstGeom prst="rect">
            <a:avLst/>
          </a:prstGeom>
        </p:spPr>
      </p:pic>
      <p:sp>
        <p:nvSpPr>
          <p:cNvPr id="20" name="Text 15"/>
          <p:cNvSpPr/>
          <p:nvPr/>
        </p:nvSpPr>
        <p:spPr>
          <a:xfrm>
            <a:off x="640080" y="5715000"/>
            <a:ext cx="10881360" cy="822960"/>
          </a:xfrm>
          <a:prstGeom prst="rect">
            <a:avLst/>
          </a:prstGeom>
          <a:noFill/>
          <a:ln/>
        </p:spPr>
        <p:txBody>
          <a:bodyPr wrap="square" rtlCol="0" anchor="ctr"/>
          <a:lstStyle/>
          <a:p>
            <a:pPr marL="0" indent="0">
              <a:lnSpc>
                <a:spcPts val="1900"/>
              </a:lnSpc>
              <a:buNone/>
            </a:pPr>
            <a:r>
              <a:rPr lang="en-US" sz="1300" i="1" dirty="0">
                <a:solidFill>
                  <a:srgbClr val="CADCFC"/>
                </a:solidFill>
                <a:latin typeface="Calibri" pitchFamily="34" charset="0"/>
                <a:ea typeface="Calibri" pitchFamily="34" charset="-122"/>
                <a:cs typeface="Calibri" pitchFamily="34" charset="-120"/>
              </a:rPr>
              <a:t>Together, these three actions form a roadmap for improving RevPAR across the AtliQ Mart portfolio — by adjusting prices to match demand, fixing service issues that drive guests away, and protecting the bookings that matter most.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61120" y="4114800"/>
            <a:ext cx="4572000" cy="4572000"/>
          </a:xfrm>
          <a:prstGeom prst="ellipse">
            <a:avLst/>
          </a:prstGeom>
          <a:solidFill>
            <a:srgbClr val="E8F1F5"/>
          </a:solidFill>
          <a:ln/>
        </p:spPr>
        <p:txBody>
          <a:bodyPr/>
          <a:lstStyle/>
          <a:p>
            <a:endParaRPr lang="en-US"/>
          </a:p>
        </p:txBody>
      </p:sp>
      <p:sp>
        <p:nvSpPr>
          <p:cNvPr id="3" name="Text 1"/>
          <p:cNvSpPr/>
          <p:nvPr/>
        </p:nvSpPr>
        <p:spPr>
          <a:xfrm>
            <a:off x="640080" y="2377440"/>
            <a:ext cx="7315200" cy="1097280"/>
          </a:xfrm>
          <a:prstGeom prst="rect">
            <a:avLst/>
          </a:prstGeom>
          <a:noFill/>
          <a:ln/>
        </p:spPr>
        <p:txBody>
          <a:bodyPr wrap="square" rtlCol="0" anchor="ctr"/>
          <a:lstStyle/>
          <a:p>
            <a:pPr marL="0" indent="0">
              <a:buNone/>
            </a:pPr>
            <a:r>
              <a:rPr lang="en-US" sz="4400" b="1" dirty="0">
                <a:solidFill>
                  <a:srgbClr val="21295C"/>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640080" y="3520440"/>
            <a:ext cx="7315200" cy="822960"/>
          </a:xfrm>
          <a:prstGeom prst="rect">
            <a:avLst/>
          </a:prstGeom>
          <a:noFill/>
          <a:ln/>
        </p:spPr>
        <p:txBody>
          <a:bodyPr wrap="square" rtlCol="0" anchor="ctr"/>
          <a:lstStyle/>
          <a:p>
            <a:pPr marL="0" indent="0">
              <a:lnSpc>
                <a:spcPts val="2000"/>
              </a:lnSpc>
              <a:buNone/>
            </a:pPr>
            <a:r>
              <a:rPr lang="en-US" sz="1400" dirty="0">
                <a:solidFill>
                  <a:srgbClr val="64748B"/>
                </a:solidFill>
                <a:latin typeface="Calibri" pitchFamily="34" charset="0"/>
                <a:ea typeface="Calibri" pitchFamily="34" charset="-122"/>
                <a:cs typeface="Calibri" pitchFamily="34" charset="-120"/>
              </a:rPr>
              <a:t>Built using Power BI, DAX, and a star-schema data model on the AtliQ Mart hospitality dataset (Codebasics Resume Project Challenge).</a:t>
            </a:r>
            <a:endParaRPr lang="en-US" sz="1400" dirty="0"/>
          </a:p>
        </p:txBody>
      </p:sp>
      <p:sp>
        <p:nvSpPr>
          <p:cNvPr id="6" name="Text 4"/>
          <p:cNvSpPr/>
          <p:nvPr/>
        </p:nvSpPr>
        <p:spPr>
          <a:xfrm>
            <a:off x="640080" y="4709160"/>
            <a:ext cx="3657600" cy="457200"/>
          </a:xfrm>
          <a:prstGeom prst="rect">
            <a:avLst/>
          </a:prstGeom>
          <a:noFill/>
          <a:ln/>
        </p:spPr>
        <p:txBody>
          <a:bodyPr wrap="square" rtlCol="0" anchor="ctr"/>
          <a:lstStyle/>
          <a:p>
            <a:pPr marL="0" indent="0">
              <a:buNone/>
            </a:pPr>
            <a:r>
              <a:rPr lang="en-US" sz="1800" b="1" dirty="0">
                <a:solidFill>
                  <a:srgbClr val="21295C"/>
                </a:solidFill>
                <a:latin typeface="Calibri" pitchFamily="34" charset="0"/>
                <a:ea typeface="Calibri" pitchFamily="34" charset="-122"/>
                <a:cs typeface="Calibri" pitchFamily="34" charset="-120"/>
              </a:rPr>
              <a:t>Hiran</a:t>
            </a:r>
            <a:endParaRPr lang="en-US" sz="1800" dirty="0"/>
          </a:p>
        </p:txBody>
      </p:sp>
      <p:sp>
        <p:nvSpPr>
          <p:cNvPr id="7" name="Text 5"/>
          <p:cNvSpPr/>
          <p:nvPr/>
        </p:nvSpPr>
        <p:spPr>
          <a:xfrm>
            <a:off x="640080" y="5120640"/>
            <a:ext cx="45720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Shipping Executive  →  Data Analyst in progress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981</Words>
  <Application>Microsoft Office PowerPoint</Application>
  <PresentationFormat>Widescreen</PresentationFormat>
  <Paragraphs>83</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Mart Hospitality Analytics</dc:title>
  <dc:subject>PptxGenJS Presentation</dc:subject>
  <dc:creator>Hiran</dc:creator>
  <cp:lastModifiedBy>hsanjaya1998@gmail.com</cp:lastModifiedBy>
  <cp:revision>10</cp:revision>
  <dcterms:created xsi:type="dcterms:W3CDTF">2026-06-14T17:05:45Z</dcterms:created>
  <dcterms:modified xsi:type="dcterms:W3CDTF">2026-06-17T17:44:11Z</dcterms:modified>
</cp:coreProperties>
</file>